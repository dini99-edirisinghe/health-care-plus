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86" r:id="rId3"/>
    <p:sldId id="259" r:id="rId4"/>
    <p:sldId id="261" r:id="rId5"/>
    <p:sldId id="273" r:id="rId6"/>
    <p:sldId id="262" r:id="rId7"/>
    <p:sldId id="282" r:id="rId8"/>
    <p:sldId id="275" r:id="rId9"/>
    <p:sldId id="272" r:id="rId10"/>
    <p:sldId id="285" r:id="rId11"/>
    <p:sldId id="283" r:id="rId12"/>
    <p:sldId id="28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EA2C0F-4C54-4356-93A9-DEE1DFDC781B}"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9BD89750-644F-46B6-85E8-BAD01F5512DC}">
      <dgm:prSet phldrT="[Text]"/>
      <dgm:spPr>
        <a:solidFill>
          <a:schemeClr val="accent1">
            <a:lumMod val="60000"/>
            <a:lumOff val="40000"/>
          </a:schemeClr>
        </a:solidFill>
        <a:ln>
          <a:solidFill>
            <a:schemeClr val="tx1"/>
          </a:solidFill>
        </a:ln>
      </dgm:spPr>
      <dgm:t>
        <a:bodyPr/>
        <a:lstStyle/>
        <a:p>
          <a:r>
            <a:rPr lang="en-US" b="1" dirty="0">
              <a:solidFill>
                <a:schemeClr val="tx1"/>
              </a:solidFill>
            </a:rPr>
            <a:t>Requirement Gathering</a:t>
          </a:r>
        </a:p>
      </dgm:t>
    </dgm:pt>
    <dgm:pt modelId="{9C7FCFE0-3E38-43A5-86ED-8858D599C72F}" type="parTrans" cxnId="{02422600-3D56-4520-A8D8-C9BCA2FE6419}">
      <dgm:prSet/>
      <dgm:spPr/>
      <dgm:t>
        <a:bodyPr/>
        <a:lstStyle/>
        <a:p>
          <a:endParaRPr lang="en-US" b="1">
            <a:solidFill>
              <a:schemeClr val="tx1"/>
            </a:solidFill>
          </a:endParaRPr>
        </a:p>
      </dgm:t>
    </dgm:pt>
    <dgm:pt modelId="{794B469E-6781-460A-A190-BAB941F36295}" type="sibTrans" cxnId="{02422600-3D56-4520-A8D8-C9BCA2FE6419}">
      <dgm:prSet/>
      <dgm:spPr>
        <a:ln>
          <a:solidFill>
            <a:schemeClr val="tx1"/>
          </a:solidFill>
        </a:ln>
      </dgm:spPr>
      <dgm:t>
        <a:bodyPr/>
        <a:lstStyle/>
        <a:p>
          <a:endParaRPr lang="en-US" b="1">
            <a:solidFill>
              <a:schemeClr val="tx1"/>
            </a:solidFill>
          </a:endParaRPr>
        </a:p>
      </dgm:t>
    </dgm:pt>
    <dgm:pt modelId="{64E4F379-F568-460D-84C1-59B6DE34036C}">
      <dgm:prSet phldrT="[Text]"/>
      <dgm:spPr>
        <a:solidFill>
          <a:schemeClr val="accent1">
            <a:lumMod val="60000"/>
            <a:lumOff val="40000"/>
          </a:schemeClr>
        </a:solidFill>
        <a:ln>
          <a:solidFill>
            <a:schemeClr val="tx1"/>
          </a:solidFill>
        </a:ln>
      </dgm:spPr>
      <dgm:t>
        <a:bodyPr/>
        <a:lstStyle/>
        <a:p>
          <a:r>
            <a:rPr lang="en-US" b="1" dirty="0">
              <a:solidFill>
                <a:schemeClr val="tx1"/>
              </a:solidFill>
            </a:rPr>
            <a:t>Sprint Planning</a:t>
          </a:r>
        </a:p>
      </dgm:t>
    </dgm:pt>
    <dgm:pt modelId="{BC3898F1-ACF2-4BCD-AB43-51178130EBD4}" type="parTrans" cxnId="{58157BA9-D6E2-4884-8889-209CAFA9BAE5}">
      <dgm:prSet/>
      <dgm:spPr/>
      <dgm:t>
        <a:bodyPr/>
        <a:lstStyle/>
        <a:p>
          <a:endParaRPr lang="en-US" b="1">
            <a:solidFill>
              <a:schemeClr val="tx1"/>
            </a:solidFill>
          </a:endParaRPr>
        </a:p>
      </dgm:t>
    </dgm:pt>
    <dgm:pt modelId="{0FD25BD3-EE18-439E-AE58-229D7C05CC27}" type="sibTrans" cxnId="{58157BA9-D6E2-4884-8889-209CAFA9BAE5}">
      <dgm:prSet/>
      <dgm:spPr>
        <a:ln>
          <a:solidFill>
            <a:schemeClr val="tx1"/>
          </a:solidFill>
        </a:ln>
      </dgm:spPr>
      <dgm:t>
        <a:bodyPr/>
        <a:lstStyle/>
        <a:p>
          <a:endParaRPr lang="en-US" b="1">
            <a:solidFill>
              <a:schemeClr val="tx1"/>
            </a:solidFill>
          </a:endParaRPr>
        </a:p>
      </dgm:t>
    </dgm:pt>
    <dgm:pt modelId="{7684DDEF-9A2B-453E-923A-7BA14417D365}">
      <dgm:prSet phldrT="[Text]"/>
      <dgm:spPr>
        <a:solidFill>
          <a:schemeClr val="accent1">
            <a:lumMod val="60000"/>
            <a:lumOff val="40000"/>
          </a:schemeClr>
        </a:solidFill>
        <a:ln>
          <a:solidFill>
            <a:schemeClr val="tx1"/>
          </a:solidFill>
        </a:ln>
      </dgm:spPr>
      <dgm:t>
        <a:bodyPr/>
        <a:lstStyle/>
        <a:p>
          <a:r>
            <a:rPr lang="en-US" b="1" dirty="0">
              <a:solidFill>
                <a:schemeClr val="tx1"/>
              </a:solidFill>
            </a:rPr>
            <a:t>Development</a:t>
          </a:r>
        </a:p>
      </dgm:t>
    </dgm:pt>
    <dgm:pt modelId="{6B93076A-ED84-4B06-83A9-EAFF4404473E}" type="parTrans" cxnId="{5BAF0437-DBD0-44D7-B1F0-9F769CBB82F7}">
      <dgm:prSet/>
      <dgm:spPr/>
      <dgm:t>
        <a:bodyPr/>
        <a:lstStyle/>
        <a:p>
          <a:endParaRPr lang="en-US" b="1">
            <a:solidFill>
              <a:schemeClr val="tx1"/>
            </a:solidFill>
          </a:endParaRPr>
        </a:p>
      </dgm:t>
    </dgm:pt>
    <dgm:pt modelId="{E03E1CD8-7B51-4A53-B368-A73F7E55AF56}" type="sibTrans" cxnId="{5BAF0437-DBD0-44D7-B1F0-9F769CBB82F7}">
      <dgm:prSet/>
      <dgm:spPr>
        <a:ln>
          <a:solidFill>
            <a:schemeClr val="tx1"/>
          </a:solidFill>
        </a:ln>
      </dgm:spPr>
      <dgm:t>
        <a:bodyPr/>
        <a:lstStyle/>
        <a:p>
          <a:endParaRPr lang="en-US" b="1">
            <a:solidFill>
              <a:schemeClr val="tx1"/>
            </a:solidFill>
          </a:endParaRPr>
        </a:p>
      </dgm:t>
    </dgm:pt>
    <dgm:pt modelId="{94BEBF1D-B8F3-4139-9108-C5025C7DD204}">
      <dgm:prSet phldrT="[Text]"/>
      <dgm:spPr>
        <a:solidFill>
          <a:schemeClr val="accent1">
            <a:lumMod val="60000"/>
            <a:lumOff val="40000"/>
          </a:schemeClr>
        </a:solidFill>
        <a:ln>
          <a:solidFill>
            <a:schemeClr val="tx1"/>
          </a:solidFill>
        </a:ln>
      </dgm:spPr>
      <dgm:t>
        <a:bodyPr/>
        <a:lstStyle/>
        <a:p>
          <a:r>
            <a:rPr lang="en-US" b="1" dirty="0">
              <a:solidFill>
                <a:schemeClr val="tx1"/>
              </a:solidFill>
            </a:rPr>
            <a:t>Testing</a:t>
          </a:r>
        </a:p>
      </dgm:t>
    </dgm:pt>
    <dgm:pt modelId="{E93948C2-595D-4E71-901C-B3F44C284E33}" type="parTrans" cxnId="{654A3C8B-E974-4FB2-B552-65702458F948}">
      <dgm:prSet/>
      <dgm:spPr/>
      <dgm:t>
        <a:bodyPr/>
        <a:lstStyle/>
        <a:p>
          <a:endParaRPr lang="en-US" b="1">
            <a:solidFill>
              <a:schemeClr val="tx1"/>
            </a:solidFill>
          </a:endParaRPr>
        </a:p>
      </dgm:t>
    </dgm:pt>
    <dgm:pt modelId="{893ED11E-9020-4BAA-9D4A-FE20722BDCC7}" type="sibTrans" cxnId="{654A3C8B-E974-4FB2-B552-65702458F948}">
      <dgm:prSet/>
      <dgm:spPr>
        <a:ln>
          <a:solidFill>
            <a:schemeClr val="tx1"/>
          </a:solidFill>
        </a:ln>
      </dgm:spPr>
      <dgm:t>
        <a:bodyPr/>
        <a:lstStyle/>
        <a:p>
          <a:endParaRPr lang="en-US" b="1">
            <a:solidFill>
              <a:schemeClr val="tx1"/>
            </a:solidFill>
          </a:endParaRPr>
        </a:p>
      </dgm:t>
    </dgm:pt>
    <dgm:pt modelId="{610888DD-22B8-4A29-8991-AB4D88FA5488}">
      <dgm:prSet phldrT="[Text]"/>
      <dgm:spPr>
        <a:solidFill>
          <a:schemeClr val="accent1">
            <a:lumMod val="60000"/>
            <a:lumOff val="40000"/>
          </a:schemeClr>
        </a:solidFill>
        <a:ln>
          <a:solidFill>
            <a:schemeClr val="tx1"/>
          </a:solidFill>
        </a:ln>
      </dgm:spPr>
      <dgm:t>
        <a:bodyPr/>
        <a:lstStyle/>
        <a:p>
          <a:r>
            <a:rPr lang="en-US" b="1" dirty="0">
              <a:solidFill>
                <a:schemeClr val="tx1"/>
              </a:solidFill>
            </a:rPr>
            <a:t>Deployment</a:t>
          </a:r>
        </a:p>
      </dgm:t>
    </dgm:pt>
    <dgm:pt modelId="{ADB18C10-82F2-4B55-B781-0A13ACA5EFD9}" type="parTrans" cxnId="{04F9138A-265F-4006-B8A6-720A479C228A}">
      <dgm:prSet/>
      <dgm:spPr/>
      <dgm:t>
        <a:bodyPr/>
        <a:lstStyle/>
        <a:p>
          <a:endParaRPr lang="en-US" b="1">
            <a:solidFill>
              <a:schemeClr val="tx1"/>
            </a:solidFill>
          </a:endParaRPr>
        </a:p>
      </dgm:t>
    </dgm:pt>
    <dgm:pt modelId="{FDA90892-C764-4B1D-9C24-7E384A723E98}" type="sibTrans" cxnId="{04F9138A-265F-4006-B8A6-720A479C228A}">
      <dgm:prSet/>
      <dgm:spPr>
        <a:ln>
          <a:solidFill>
            <a:schemeClr val="tx1"/>
          </a:solidFill>
        </a:ln>
      </dgm:spPr>
      <dgm:t>
        <a:bodyPr/>
        <a:lstStyle/>
        <a:p>
          <a:endParaRPr lang="en-US" b="1">
            <a:solidFill>
              <a:schemeClr val="tx1"/>
            </a:solidFill>
          </a:endParaRPr>
        </a:p>
      </dgm:t>
    </dgm:pt>
    <dgm:pt modelId="{BAB93FA6-8212-49BC-8123-3FC9710F749C}">
      <dgm:prSet/>
      <dgm:spPr>
        <a:solidFill>
          <a:schemeClr val="accent1">
            <a:lumMod val="60000"/>
            <a:lumOff val="40000"/>
          </a:schemeClr>
        </a:solidFill>
        <a:ln>
          <a:solidFill>
            <a:schemeClr val="tx1"/>
          </a:solidFill>
        </a:ln>
      </dgm:spPr>
      <dgm:t>
        <a:bodyPr/>
        <a:lstStyle/>
        <a:p>
          <a:r>
            <a:rPr lang="en-US" b="1" dirty="0">
              <a:solidFill>
                <a:schemeClr val="tx1"/>
              </a:solidFill>
            </a:rPr>
            <a:t>Review &amp; Feedback</a:t>
          </a:r>
        </a:p>
      </dgm:t>
    </dgm:pt>
    <dgm:pt modelId="{D144E1C5-501F-440F-B9C1-C229A7CA6254}" type="parTrans" cxnId="{A6F48CC2-B839-400A-8E62-572BAA2AD484}">
      <dgm:prSet/>
      <dgm:spPr/>
      <dgm:t>
        <a:bodyPr/>
        <a:lstStyle/>
        <a:p>
          <a:endParaRPr lang="en-US" b="1">
            <a:solidFill>
              <a:schemeClr val="tx1"/>
            </a:solidFill>
          </a:endParaRPr>
        </a:p>
      </dgm:t>
    </dgm:pt>
    <dgm:pt modelId="{ABBCDA7F-098E-47E3-91DA-9307631B3BCA}" type="sibTrans" cxnId="{A6F48CC2-B839-400A-8E62-572BAA2AD484}">
      <dgm:prSet/>
      <dgm:spPr>
        <a:ln>
          <a:solidFill>
            <a:schemeClr val="tx1"/>
          </a:solidFill>
        </a:ln>
      </dgm:spPr>
      <dgm:t>
        <a:bodyPr/>
        <a:lstStyle/>
        <a:p>
          <a:endParaRPr lang="en-US" b="1">
            <a:solidFill>
              <a:schemeClr val="tx1"/>
            </a:solidFill>
          </a:endParaRPr>
        </a:p>
      </dgm:t>
    </dgm:pt>
    <dgm:pt modelId="{636D1CB5-FCAB-4F24-9E2A-46F64FBA47D6}">
      <dgm:prSet/>
      <dgm:spPr>
        <a:solidFill>
          <a:schemeClr val="accent1">
            <a:lumMod val="60000"/>
            <a:lumOff val="40000"/>
          </a:schemeClr>
        </a:solidFill>
        <a:ln>
          <a:solidFill>
            <a:schemeClr val="tx1"/>
          </a:solidFill>
        </a:ln>
      </dgm:spPr>
      <dgm:t>
        <a:bodyPr/>
        <a:lstStyle/>
        <a:p>
          <a:r>
            <a:rPr lang="en-US" b="1" dirty="0">
              <a:solidFill>
                <a:schemeClr val="tx1"/>
              </a:solidFill>
            </a:rPr>
            <a:t>Continuous Improvement</a:t>
          </a:r>
        </a:p>
      </dgm:t>
    </dgm:pt>
    <dgm:pt modelId="{0EF51D25-FF05-4CCD-A6CC-A78BB970A352}" type="parTrans" cxnId="{4DCD3FA7-9102-41CA-884D-7B8EE9CC64BF}">
      <dgm:prSet/>
      <dgm:spPr/>
      <dgm:t>
        <a:bodyPr/>
        <a:lstStyle/>
        <a:p>
          <a:endParaRPr lang="en-US" b="1">
            <a:solidFill>
              <a:schemeClr val="tx1"/>
            </a:solidFill>
          </a:endParaRPr>
        </a:p>
      </dgm:t>
    </dgm:pt>
    <dgm:pt modelId="{0AFD77D7-ACAC-4BA5-84FB-105ABDB7EA49}" type="sibTrans" cxnId="{4DCD3FA7-9102-41CA-884D-7B8EE9CC64BF}">
      <dgm:prSet/>
      <dgm:spPr>
        <a:ln>
          <a:solidFill>
            <a:schemeClr val="tx1"/>
          </a:solidFill>
        </a:ln>
      </dgm:spPr>
      <dgm:t>
        <a:bodyPr/>
        <a:lstStyle/>
        <a:p>
          <a:endParaRPr lang="en-US" b="1">
            <a:solidFill>
              <a:schemeClr val="tx1"/>
            </a:solidFill>
          </a:endParaRPr>
        </a:p>
      </dgm:t>
    </dgm:pt>
    <dgm:pt modelId="{7C4BE4B8-C326-48A3-9795-B1A23763E5F4}" type="pres">
      <dgm:prSet presAssocID="{8CEA2C0F-4C54-4356-93A9-DEE1DFDC781B}" presName="cycle" presStyleCnt="0">
        <dgm:presLayoutVars>
          <dgm:dir/>
          <dgm:resizeHandles val="exact"/>
        </dgm:presLayoutVars>
      </dgm:prSet>
      <dgm:spPr/>
    </dgm:pt>
    <dgm:pt modelId="{EC884D33-474C-4E05-8FD9-B9E99B468AC3}" type="pres">
      <dgm:prSet presAssocID="{9BD89750-644F-46B6-85E8-BAD01F5512DC}" presName="node" presStyleLbl="node1" presStyleIdx="0" presStyleCnt="7">
        <dgm:presLayoutVars>
          <dgm:bulletEnabled val="1"/>
        </dgm:presLayoutVars>
      </dgm:prSet>
      <dgm:spPr/>
    </dgm:pt>
    <dgm:pt modelId="{E523365F-BFA0-4E57-869B-5F75A205ADE0}" type="pres">
      <dgm:prSet presAssocID="{794B469E-6781-460A-A190-BAB941F36295}" presName="sibTrans" presStyleLbl="sibTrans2D1" presStyleIdx="0" presStyleCnt="7"/>
      <dgm:spPr/>
    </dgm:pt>
    <dgm:pt modelId="{A843FE21-F8D6-45CF-B69D-EF4DAFCBC853}" type="pres">
      <dgm:prSet presAssocID="{794B469E-6781-460A-A190-BAB941F36295}" presName="connectorText" presStyleLbl="sibTrans2D1" presStyleIdx="0" presStyleCnt="7"/>
      <dgm:spPr/>
    </dgm:pt>
    <dgm:pt modelId="{96FEBE8D-F565-408E-987A-83C4B14CEEEE}" type="pres">
      <dgm:prSet presAssocID="{636D1CB5-FCAB-4F24-9E2A-46F64FBA47D6}" presName="node" presStyleLbl="node1" presStyleIdx="1" presStyleCnt="7">
        <dgm:presLayoutVars>
          <dgm:bulletEnabled val="1"/>
        </dgm:presLayoutVars>
      </dgm:prSet>
      <dgm:spPr/>
    </dgm:pt>
    <dgm:pt modelId="{CF192D5B-BAC7-4368-ABB4-6964C1CB375E}" type="pres">
      <dgm:prSet presAssocID="{0AFD77D7-ACAC-4BA5-84FB-105ABDB7EA49}" presName="sibTrans" presStyleLbl="sibTrans2D1" presStyleIdx="1" presStyleCnt="7"/>
      <dgm:spPr/>
    </dgm:pt>
    <dgm:pt modelId="{AE4C92D0-43A9-4598-A62B-3604DFFFEDFC}" type="pres">
      <dgm:prSet presAssocID="{0AFD77D7-ACAC-4BA5-84FB-105ABDB7EA49}" presName="connectorText" presStyleLbl="sibTrans2D1" presStyleIdx="1" presStyleCnt="7"/>
      <dgm:spPr/>
    </dgm:pt>
    <dgm:pt modelId="{0ABFABBD-6E57-4802-A94F-6C33925AAFB3}" type="pres">
      <dgm:prSet presAssocID="{64E4F379-F568-460D-84C1-59B6DE34036C}" presName="node" presStyleLbl="node1" presStyleIdx="2" presStyleCnt="7">
        <dgm:presLayoutVars>
          <dgm:bulletEnabled val="1"/>
        </dgm:presLayoutVars>
      </dgm:prSet>
      <dgm:spPr/>
    </dgm:pt>
    <dgm:pt modelId="{93E88D08-348F-41F9-92FF-5322B0CF12CE}" type="pres">
      <dgm:prSet presAssocID="{0FD25BD3-EE18-439E-AE58-229D7C05CC27}" presName="sibTrans" presStyleLbl="sibTrans2D1" presStyleIdx="2" presStyleCnt="7"/>
      <dgm:spPr/>
    </dgm:pt>
    <dgm:pt modelId="{1781C3E9-DC53-4795-A9DF-F31D581E8072}" type="pres">
      <dgm:prSet presAssocID="{0FD25BD3-EE18-439E-AE58-229D7C05CC27}" presName="connectorText" presStyleLbl="sibTrans2D1" presStyleIdx="2" presStyleCnt="7"/>
      <dgm:spPr/>
    </dgm:pt>
    <dgm:pt modelId="{6C076E65-5D0A-4B88-B975-80E43C37C791}" type="pres">
      <dgm:prSet presAssocID="{7684DDEF-9A2B-453E-923A-7BA14417D365}" presName="node" presStyleLbl="node1" presStyleIdx="3" presStyleCnt="7">
        <dgm:presLayoutVars>
          <dgm:bulletEnabled val="1"/>
        </dgm:presLayoutVars>
      </dgm:prSet>
      <dgm:spPr/>
    </dgm:pt>
    <dgm:pt modelId="{1C3218D3-3D65-4D48-8697-C6B2D155274D}" type="pres">
      <dgm:prSet presAssocID="{E03E1CD8-7B51-4A53-B368-A73F7E55AF56}" presName="sibTrans" presStyleLbl="sibTrans2D1" presStyleIdx="3" presStyleCnt="7"/>
      <dgm:spPr/>
    </dgm:pt>
    <dgm:pt modelId="{95FCD87D-98CC-4CAE-BC1D-3F4B69050AA3}" type="pres">
      <dgm:prSet presAssocID="{E03E1CD8-7B51-4A53-B368-A73F7E55AF56}" presName="connectorText" presStyleLbl="sibTrans2D1" presStyleIdx="3" presStyleCnt="7"/>
      <dgm:spPr/>
    </dgm:pt>
    <dgm:pt modelId="{60B030E1-51CD-4D0E-84D4-39DA402EF312}" type="pres">
      <dgm:prSet presAssocID="{94BEBF1D-B8F3-4139-9108-C5025C7DD204}" presName="node" presStyleLbl="node1" presStyleIdx="4" presStyleCnt="7">
        <dgm:presLayoutVars>
          <dgm:bulletEnabled val="1"/>
        </dgm:presLayoutVars>
      </dgm:prSet>
      <dgm:spPr/>
    </dgm:pt>
    <dgm:pt modelId="{7179E04B-13F5-4E84-8BAF-D5D2D238C408}" type="pres">
      <dgm:prSet presAssocID="{893ED11E-9020-4BAA-9D4A-FE20722BDCC7}" presName="sibTrans" presStyleLbl="sibTrans2D1" presStyleIdx="4" presStyleCnt="7"/>
      <dgm:spPr/>
    </dgm:pt>
    <dgm:pt modelId="{F7201B4D-2135-4715-82DC-EA7FE5DD224F}" type="pres">
      <dgm:prSet presAssocID="{893ED11E-9020-4BAA-9D4A-FE20722BDCC7}" presName="connectorText" presStyleLbl="sibTrans2D1" presStyleIdx="4" presStyleCnt="7"/>
      <dgm:spPr/>
    </dgm:pt>
    <dgm:pt modelId="{B76DE015-C40A-44AE-88D4-90346429D926}" type="pres">
      <dgm:prSet presAssocID="{610888DD-22B8-4A29-8991-AB4D88FA5488}" presName="node" presStyleLbl="node1" presStyleIdx="5" presStyleCnt="7">
        <dgm:presLayoutVars>
          <dgm:bulletEnabled val="1"/>
        </dgm:presLayoutVars>
      </dgm:prSet>
      <dgm:spPr/>
    </dgm:pt>
    <dgm:pt modelId="{0EAB2DC1-F24A-47EC-ABB0-160E875016A6}" type="pres">
      <dgm:prSet presAssocID="{FDA90892-C764-4B1D-9C24-7E384A723E98}" presName="sibTrans" presStyleLbl="sibTrans2D1" presStyleIdx="5" presStyleCnt="7"/>
      <dgm:spPr/>
    </dgm:pt>
    <dgm:pt modelId="{904DCBC5-2EFB-4F9F-9FCD-D4F58786BAD4}" type="pres">
      <dgm:prSet presAssocID="{FDA90892-C764-4B1D-9C24-7E384A723E98}" presName="connectorText" presStyleLbl="sibTrans2D1" presStyleIdx="5" presStyleCnt="7"/>
      <dgm:spPr/>
    </dgm:pt>
    <dgm:pt modelId="{A9483935-8E70-42B2-9A66-42ED1D2F52AB}" type="pres">
      <dgm:prSet presAssocID="{BAB93FA6-8212-49BC-8123-3FC9710F749C}" presName="node" presStyleLbl="node1" presStyleIdx="6" presStyleCnt="7">
        <dgm:presLayoutVars>
          <dgm:bulletEnabled val="1"/>
        </dgm:presLayoutVars>
      </dgm:prSet>
      <dgm:spPr/>
    </dgm:pt>
    <dgm:pt modelId="{AC63BD67-1AAD-4CAE-94B5-901965425711}" type="pres">
      <dgm:prSet presAssocID="{ABBCDA7F-098E-47E3-91DA-9307631B3BCA}" presName="sibTrans" presStyleLbl="sibTrans2D1" presStyleIdx="6" presStyleCnt="7"/>
      <dgm:spPr/>
    </dgm:pt>
    <dgm:pt modelId="{980DC5E9-0A2A-414E-BFDA-5DB9E97A7C2B}" type="pres">
      <dgm:prSet presAssocID="{ABBCDA7F-098E-47E3-91DA-9307631B3BCA}" presName="connectorText" presStyleLbl="sibTrans2D1" presStyleIdx="6" presStyleCnt="7"/>
      <dgm:spPr/>
    </dgm:pt>
  </dgm:ptLst>
  <dgm:cxnLst>
    <dgm:cxn modelId="{02422600-3D56-4520-A8D8-C9BCA2FE6419}" srcId="{8CEA2C0F-4C54-4356-93A9-DEE1DFDC781B}" destId="{9BD89750-644F-46B6-85E8-BAD01F5512DC}" srcOrd="0" destOrd="0" parTransId="{9C7FCFE0-3E38-43A5-86ED-8858D599C72F}" sibTransId="{794B469E-6781-460A-A190-BAB941F36295}"/>
    <dgm:cxn modelId="{54D5A003-18B5-41E0-BAE0-CEF31D3C86BD}" type="presOf" srcId="{610888DD-22B8-4A29-8991-AB4D88FA5488}" destId="{B76DE015-C40A-44AE-88D4-90346429D926}" srcOrd="0" destOrd="0" presId="urn:microsoft.com/office/officeart/2005/8/layout/cycle2"/>
    <dgm:cxn modelId="{98AA1928-202D-49D2-9BE9-31B87C5EBE81}" type="presOf" srcId="{E03E1CD8-7B51-4A53-B368-A73F7E55AF56}" destId="{1C3218D3-3D65-4D48-8697-C6B2D155274D}" srcOrd="0" destOrd="0" presId="urn:microsoft.com/office/officeart/2005/8/layout/cycle2"/>
    <dgm:cxn modelId="{84B4832C-3D25-444C-BE09-1C99463855F1}" type="presOf" srcId="{ABBCDA7F-098E-47E3-91DA-9307631B3BCA}" destId="{AC63BD67-1AAD-4CAE-94B5-901965425711}" srcOrd="0" destOrd="0" presId="urn:microsoft.com/office/officeart/2005/8/layout/cycle2"/>
    <dgm:cxn modelId="{0C308E30-3208-4442-BE03-C26C60E94D5F}" type="presOf" srcId="{794B469E-6781-460A-A190-BAB941F36295}" destId="{A843FE21-F8D6-45CF-B69D-EF4DAFCBC853}" srcOrd="1" destOrd="0" presId="urn:microsoft.com/office/officeart/2005/8/layout/cycle2"/>
    <dgm:cxn modelId="{5BAF0437-DBD0-44D7-B1F0-9F769CBB82F7}" srcId="{8CEA2C0F-4C54-4356-93A9-DEE1DFDC781B}" destId="{7684DDEF-9A2B-453E-923A-7BA14417D365}" srcOrd="3" destOrd="0" parTransId="{6B93076A-ED84-4B06-83A9-EAFF4404473E}" sibTransId="{E03E1CD8-7B51-4A53-B368-A73F7E55AF56}"/>
    <dgm:cxn modelId="{5B66A038-96CB-4D55-9D12-69809FF5DF0F}" type="presOf" srcId="{0AFD77D7-ACAC-4BA5-84FB-105ABDB7EA49}" destId="{CF192D5B-BAC7-4368-ABB4-6964C1CB375E}" srcOrd="0" destOrd="0" presId="urn:microsoft.com/office/officeart/2005/8/layout/cycle2"/>
    <dgm:cxn modelId="{39B29541-FBD5-4BBB-9470-51CA61F74B2E}" type="presOf" srcId="{BAB93FA6-8212-49BC-8123-3FC9710F749C}" destId="{A9483935-8E70-42B2-9A66-42ED1D2F52AB}" srcOrd="0" destOrd="0" presId="urn:microsoft.com/office/officeart/2005/8/layout/cycle2"/>
    <dgm:cxn modelId="{39EEC963-4BBD-4437-BF19-24BEECB459BD}" type="presOf" srcId="{E03E1CD8-7B51-4A53-B368-A73F7E55AF56}" destId="{95FCD87D-98CC-4CAE-BC1D-3F4B69050AA3}" srcOrd="1" destOrd="0" presId="urn:microsoft.com/office/officeart/2005/8/layout/cycle2"/>
    <dgm:cxn modelId="{0DEA3A45-C6B9-45DB-922F-359B0E2268C4}" type="presOf" srcId="{0FD25BD3-EE18-439E-AE58-229D7C05CC27}" destId="{1781C3E9-DC53-4795-A9DF-F31D581E8072}" srcOrd="1" destOrd="0" presId="urn:microsoft.com/office/officeart/2005/8/layout/cycle2"/>
    <dgm:cxn modelId="{CE70934C-A389-4A61-9827-3FB9FC4ECF89}" type="presOf" srcId="{7684DDEF-9A2B-453E-923A-7BA14417D365}" destId="{6C076E65-5D0A-4B88-B975-80E43C37C791}" srcOrd="0" destOrd="0" presId="urn:microsoft.com/office/officeart/2005/8/layout/cycle2"/>
    <dgm:cxn modelId="{914ADA51-C196-4CB9-B733-ED06E4BF8C71}" type="presOf" srcId="{94BEBF1D-B8F3-4139-9108-C5025C7DD204}" destId="{60B030E1-51CD-4D0E-84D4-39DA402EF312}" srcOrd="0" destOrd="0" presId="urn:microsoft.com/office/officeart/2005/8/layout/cycle2"/>
    <dgm:cxn modelId="{0F484D55-FBE5-4A17-A92A-166C6F919748}" type="presOf" srcId="{64E4F379-F568-460D-84C1-59B6DE34036C}" destId="{0ABFABBD-6E57-4802-A94F-6C33925AAFB3}" srcOrd="0" destOrd="0" presId="urn:microsoft.com/office/officeart/2005/8/layout/cycle2"/>
    <dgm:cxn modelId="{C0A43358-C618-4D51-8A87-3CAEA40CDF85}" type="presOf" srcId="{9BD89750-644F-46B6-85E8-BAD01F5512DC}" destId="{EC884D33-474C-4E05-8FD9-B9E99B468AC3}" srcOrd="0" destOrd="0" presId="urn:microsoft.com/office/officeart/2005/8/layout/cycle2"/>
    <dgm:cxn modelId="{F4025259-37AB-4229-8F9D-788644AD043A}" type="presOf" srcId="{FDA90892-C764-4B1D-9C24-7E384A723E98}" destId="{904DCBC5-2EFB-4F9F-9FCD-D4F58786BAD4}" srcOrd="1" destOrd="0" presId="urn:microsoft.com/office/officeart/2005/8/layout/cycle2"/>
    <dgm:cxn modelId="{4A731180-CD88-42D3-83AB-CF098ABC34F0}" type="presOf" srcId="{893ED11E-9020-4BAA-9D4A-FE20722BDCC7}" destId="{7179E04B-13F5-4E84-8BAF-D5D2D238C408}" srcOrd="0" destOrd="0" presId="urn:microsoft.com/office/officeart/2005/8/layout/cycle2"/>
    <dgm:cxn modelId="{F8624C88-04E8-4937-A5E9-9204DB1A9732}" type="presOf" srcId="{794B469E-6781-460A-A190-BAB941F36295}" destId="{E523365F-BFA0-4E57-869B-5F75A205ADE0}" srcOrd="0" destOrd="0" presId="urn:microsoft.com/office/officeart/2005/8/layout/cycle2"/>
    <dgm:cxn modelId="{04F9138A-265F-4006-B8A6-720A479C228A}" srcId="{8CEA2C0F-4C54-4356-93A9-DEE1DFDC781B}" destId="{610888DD-22B8-4A29-8991-AB4D88FA5488}" srcOrd="5" destOrd="0" parTransId="{ADB18C10-82F2-4B55-B781-0A13ACA5EFD9}" sibTransId="{FDA90892-C764-4B1D-9C24-7E384A723E98}"/>
    <dgm:cxn modelId="{654A3C8B-E974-4FB2-B552-65702458F948}" srcId="{8CEA2C0F-4C54-4356-93A9-DEE1DFDC781B}" destId="{94BEBF1D-B8F3-4139-9108-C5025C7DD204}" srcOrd="4" destOrd="0" parTransId="{E93948C2-595D-4E71-901C-B3F44C284E33}" sibTransId="{893ED11E-9020-4BAA-9D4A-FE20722BDCC7}"/>
    <dgm:cxn modelId="{A5182492-0A47-4034-9846-FB7CB5425B06}" type="presOf" srcId="{ABBCDA7F-098E-47E3-91DA-9307631B3BCA}" destId="{980DC5E9-0A2A-414E-BFDA-5DB9E97A7C2B}" srcOrd="1" destOrd="0" presId="urn:microsoft.com/office/officeart/2005/8/layout/cycle2"/>
    <dgm:cxn modelId="{AB1DB597-EB55-43A7-953B-7CE451080661}" type="presOf" srcId="{FDA90892-C764-4B1D-9C24-7E384A723E98}" destId="{0EAB2DC1-F24A-47EC-ABB0-160E875016A6}" srcOrd="0" destOrd="0" presId="urn:microsoft.com/office/officeart/2005/8/layout/cycle2"/>
    <dgm:cxn modelId="{505EAF9C-EA14-4FEB-ADED-76A3D9746AAA}" type="presOf" srcId="{0AFD77D7-ACAC-4BA5-84FB-105ABDB7EA49}" destId="{AE4C92D0-43A9-4598-A62B-3604DFFFEDFC}" srcOrd="1" destOrd="0" presId="urn:microsoft.com/office/officeart/2005/8/layout/cycle2"/>
    <dgm:cxn modelId="{A69803A4-9C4D-438D-B27D-30D6DED279C7}" type="presOf" srcId="{636D1CB5-FCAB-4F24-9E2A-46F64FBA47D6}" destId="{96FEBE8D-F565-408E-987A-83C4B14CEEEE}" srcOrd="0" destOrd="0" presId="urn:microsoft.com/office/officeart/2005/8/layout/cycle2"/>
    <dgm:cxn modelId="{4DCD3FA7-9102-41CA-884D-7B8EE9CC64BF}" srcId="{8CEA2C0F-4C54-4356-93A9-DEE1DFDC781B}" destId="{636D1CB5-FCAB-4F24-9E2A-46F64FBA47D6}" srcOrd="1" destOrd="0" parTransId="{0EF51D25-FF05-4CCD-A6CC-A78BB970A352}" sibTransId="{0AFD77D7-ACAC-4BA5-84FB-105ABDB7EA49}"/>
    <dgm:cxn modelId="{58157BA9-D6E2-4884-8889-209CAFA9BAE5}" srcId="{8CEA2C0F-4C54-4356-93A9-DEE1DFDC781B}" destId="{64E4F379-F568-460D-84C1-59B6DE34036C}" srcOrd="2" destOrd="0" parTransId="{BC3898F1-ACF2-4BCD-AB43-51178130EBD4}" sibTransId="{0FD25BD3-EE18-439E-AE58-229D7C05CC27}"/>
    <dgm:cxn modelId="{A6F48CC2-B839-400A-8E62-572BAA2AD484}" srcId="{8CEA2C0F-4C54-4356-93A9-DEE1DFDC781B}" destId="{BAB93FA6-8212-49BC-8123-3FC9710F749C}" srcOrd="6" destOrd="0" parTransId="{D144E1C5-501F-440F-B9C1-C229A7CA6254}" sibTransId="{ABBCDA7F-098E-47E3-91DA-9307631B3BCA}"/>
    <dgm:cxn modelId="{E732C6CA-A5F3-4CE7-89BA-272158D966D2}" type="presOf" srcId="{0FD25BD3-EE18-439E-AE58-229D7C05CC27}" destId="{93E88D08-348F-41F9-92FF-5322B0CF12CE}" srcOrd="0" destOrd="0" presId="urn:microsoft.com/office/officeart/2005/8/layout/cycle2"/>
    <dgm:cxn modelId="{415759D0-BBA6-43C3-A048-876090650942}" type="presOf" srcId="{893ED11E-9020-4BAA-9D4A-FE20722BDCC7}" destId="{F7201B4D-2135-4715-82DC-EA7FE5DD224F}" srcOrd="1" destOrd="0" presId="urn:microsoft.com/office/officeart/2005/8/layout/cycle2"/>
    <dgm:cxn modelId="{5E3AD1FF-C3A9-4FD2-810F-07EB7F523C6D}" type="presOf" srcId="{8CEA2C0F-4C54-4356-93A9-DEE1DFDC781B}" destId="{7C4BE4B8-C326-48A3-9795-B1A23763E5F4}" srcOrd="0" destOrd="0" presId="urn:microsoft.com/office/officeart/2005/8/layout/cycle2"/>
    <dgm:cxn modelId="{B3F28DF1-DE73-4404-9102-C6E06FB531B2}" type="presParOf" srcId="{7C4BE4B8-C326-48A3-9795-B1A23763E5F4}" destId="{EC884D33-474C-4E05-8FD9-B9E99B468AC3}" srcOrd="0" destOrd="0" presId="urn:microsoft.com/office/officeart/2005/8/layout/cycle2"/>
    <dgm:cxn modelId="{BF46DCCB-FC3E-4400-B70C-A8CFA05B0C9F}" type="presParOf" srcId="{7C4BE4B8-C326-48A3-9795-B1A23763E5F4}" destId="{E523365F-BFA0-4E57-869B-5F75A205ADE0}" srcOrd="1" destOrd="0" presId="urn:microsoft.com/office/officeart/2005/8/layout/cycle2"/>
    <dgm:cxn modelId="{A173D558-C4DB-4F17-97A3-D0B8F3AD08BC}" type="presParOf" srcId="{E523365F-BFA0-4E57-869B-5F75A205ADE0}" destId="{A843FE21-F8D6-45CF-B69D-EF4DAFCBC853}" srcOrd="0" destOrd="0" presId="urn:microsoft.com/office/officeart/2005/8/layout/cycle2"/>
    <dgm:cxn modelId="{692B0847-CE46-4BCB-8A09-DCD31A0C35D7}" type="presParOf" srcId="{7C4BE4B8-C326-48A3-9795-B1A23763E5F4}" destId="{96FEBE8D-F565-408E-987A-83C4B14CEEEE}" srcOrd="2" destOrd="0" presId="urn:microsoft.com/office/officeart/2005/8/layout/cycle2"/>
    <dgm:cxn modelId="{649E78F2-0D48-45DD-A088-56E37F476A1B}" type="presParOf" srcId="{7C4BE4B8-C326-48A3-9795-B1A23763E5F4}" destId="{CF192D5B-BAC7-4368-ABB4-6964C1CB375E}" srcOrd="3" destOrd="0" presId="urn:microsoft.com/office/officeart/2005/8/layout/cycle2"/>
    <dgm:cxn modelId="{8830182D-44AE-40D2-B9F5-AF4EAFA4A779}" type="presParOf" srcId="{CF192D5B-BAC7-4368-ABB4-6964C1CB375E}" destId="{AE4C92D0-43A9-4598-A62B-3604DFFFEDFC}" srcOrd="0" destOrd="0" presId="urn:microsoft.com/office/officeart/2005/8/layout/cycle2"/>
    <dgm:cxn modelId="{62D28736-FB50-458C-A3C8-EAEC188332D3}" type="presParOf" srcId="{7C4BE4B8-C326-48A3-9795-B1A23763E5F4}" destId="{0ABFABBD-6E57-4802-A94F-6C33925AAFB3}" srcOrd="4" destOrd="0" presId="urn:microsoft.com/office/officeart/2005/8/layout/cycle2"/>
    <dgm:cxn modelId="{94EA6BAB-211D-487E-A1A4-B94F4B824699}" type="presParOf" srcId="{7C4BE4B8-C326-48A3-9795-B1A23763E5F4}" destId="{93E88D08-348F-41F9-92FF-5322B0CF12CE}" srcOrd="5" destOrd="0" presId="urn:microsoft.com/office/officeart/2005/8/layout/cycle2"/>
    <dgm:cxn modelId="{13693169-EF39-4057-858F-BAED140667DF}" type="presParOf" srcId="{93E88D08-348F-41F9-92FF-5322B0CF12CE}" destId="{1781C3E9-DC53-4795-A9DF-F31D581E8072}" srcOrd="0" destOrd="0" presId="urn:microsoft.com/office/officeart/2005/8/layout/cycle2"/>
    <dgm:cxn modelId="{7E498AAA-A4C3-4661-BD3B-7B47CD90B860}" type="presParOf" srcId="{7C4BE4B8-C326-48A3-9795-B1A23763E5F4}" destId="{6C076E65-5D0A-4B88-B975-80E43C37C791}" srcOrd="6" destOrd="0" presId="urn:microsoft.com/office/officeart/2005/8/layout/cycle2"/>
    <dgm:cxn modelId="{8273E601-9BD0-45A7-8CE7-8FEFC100A475}" type="presParOf" srcId="{7C4BE4B8-C326-48A3-9795-B1A23763E5F4}" destId="{1C3218D3-3D65-4D48-8697-C6B2D155274D}" srcOrd="7" destOrd="0" presId="urn:microsoft.com/office/officeart/2005/8/layout/cycle2"/>
    <dgm:cxn modelId="{30EF5CED-397C-4384-9B41-D8015CBA462B}" type="presParOf" srcId="{1C3218D3-3D65-4D48-8697-C6B2D155274D}" destId="{95FCD87D-98CC-4CAE-BC1D-3F4B69050AA3}" srcOrd="0" destOrd="0" presId="urn:microsoft.com/office/officeart/2005/8/layout/cycle2"/>
    <dgm:cxn modelId="{EDACA42E-DCD6-4712-868D-977413885CDE}" type="presParOf" srcId="{7C4BE4B8-C326-48A3-9795-B1A23763E5F4}" destId="{60B030E1-51CD-4D0E-84D4-39DA402EF312}" srcOrd="8" destOrd="0" presId="urn:microsoft.com/office/officeart/2005/8/layout/cycle2"/>
    <dgm:cxn modelId="{3D27D52C-C357-47EC-8E00-35492172AC19}" type="presParOf" srcId="{7C4BE4B8-C326-48A3-9795-B1A23763E5F4}" destId="{7179E04B-13F5-4E84-8BAF-D5D2D238C408}" srcOrd="9" destOrd="0" presId="urn:microsoft.com/office/officeart/2005/8/layout/cycle2"/>
    <dgm:cxn modelId="{A70B4F22-E291-4643-9266-B1293C583717}" type="presParOf" srcId="{7179E04B-13F5-4E84-8BAF-D5D2D238C408}" destId="{F7201B4D-2135-4715-82DC-EA7FE5DD224F}" srcOrd="0" destOrd="0" presId="urn:microsoft.com/office/officeart/2005/8/layout/cycle2"/>
    <dgm:cxn modelId="{138A2FA4-32F3-41AF-9BCC-3942256FFB0C}" type="presParOf" srcId="{7C4BE4B8-C326-48A3-9795-B1A23763E5F4}" destId="{B76DE015-C40A-44AE-88D4-90346429D926}" srcOrd="10" destOrd="0" presId="urn:microsoft.com/office/officeart/2005/8/layout/cycle2"/>
    <dgm:cxn modelId="{8E03734F-156E-4519-9342-A1E504DF4253}" type="presParOf" srcId="{7C4BE4B8-C326-48A3-9795-B1A23763E5F4}" destId="{0EAB2DC1-F24A-47EC-ABB0-160E875016A6}" srcOrd="11" destOrd="0" presId="urn:microsoft.com/office/officeart/2005/8/layout/cycle2"/>
    <dgm:cxn modelId="{B78D8865-C11A-479F-A0F3-6AD77EFA54CA}" type="presParOf" srcId="{0EAB2DC1-F24A-47EC-ABB0-160E875016A6}" destId="{904DCBC5-2EFB-4F9F-9FCD-D4F58786BAD4}" srcOrd="0" destOrd="0" presId="urn:microsoft.com/office/officeart/2005/8/layout/cycle2"/>
    <dgm:cxn modelId="{40B797FB-ACEA-41C7-B9A5-DDF6027DFE14}" type="presParOf" srcId="{7C4BE4B8-C326-48A3-9795-B1A23763E5F4}" destId="{A9483935-8E70-42B2-9A66-42ED1D2F52AB}" srcOrd="12" destOrd="0" presId="urn:microsoft.com/office/officeart/2005/8/layout/cycle2"/>
    <dgm:cxn modelId="{EBA7A1D6-DC0E-449E-819F-0E7E141CD71F}" type="presParOf" srcId="{7C4BE4B8-C326-48A3-9795-B1A23763E5F4}" destId="{AC63BD67-1AAD-4CAE-94B5-901965425711}" srcOrd="13" destOrd="0" presId="urn:microsoft.com/office/officeart/2005/8/layout/cycle2"/>
    <dgm:cxn modelId="{A29F4CB7-4E06-49ED-95EF-BAF73A3C6862}" type="presParOf" srcId="{AC63BD67-1AAD-4CAE-94B5-901965425711}" destId="{980DC5E9-0A2A-414E-BFDA-5DB9E97A7C2B}" srcOrd="0" destOrd="0" presId="urn:microsoft.com/office/officeart/2005/8/layout/cycle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84D33-474C-4E05-8FD9-B9E99B468AC3}">
      <dsp:nvSpPr>
        <dsp:cNvPr id="0" name=""/>
        <dsp:cNvSpPr/>
      </dsp:nvSpPr>
      <dsp:spPr>
        <a:xfrm>
          <a:off x="2944124" y="2009"/>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Requirement Gathering</a:t>
          </a:r>
        </a:p>
      </dsp:txBody>
      <dsp:txXfrm>
        <a:off x="3178035" y="235920"/>
        <a:ext cx="1129425" cy="1129425"/>
      </dsp:txXfrm>
    </dsp:sp>
    <dsp:sp modelId="{E523365F-BFA0-4E57-869B-5F75A205ADE0}">
      <dsp:nvSpPr>
        <dsp:cNvPr id="0" name=""/>
        <dsp:cNvSpPr/>
      </dsp:nvSpPr>
      <dsp:spPr>
        <a:xfrm rot="1542857">
          <a:off x="4600269" y="1046456"/>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a:off x="4606586" y="1126593"/>
        <a:ext cx="297683" cy="323442"/>
      </dsp:txXfrm>
    </dsp:sp>
    <dsp:sp modelId="{96FEBE8D-F565-408E-987A-83C4B14CEEEE}">
      <dsp:nvSpPr>
        <dsp:cNvPr id="0" name=""/>
        <dsp:cNvSpPr/>
      </dsp:nvSpPr>
      <dsp:spPr>
        <a:xfrm>
          <a:off x="5106116" y="1043170"/>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Continuous Improvement</a:t>
          </a:r>
        </a:p>
      </dsp:txBody>
      <dsp:txXfrm>
        <a:off x="5340027" y="1277081"/>
        <a:ext cx="1129425" cy="1129425"/>
      </dsp:txXfrm>
    </dsp:sp>
    <dsp:sp modelId="{CF192D5B-BAC7-4368-ABB4-6964C1CB375E}">
      <dsp:nvSpPr>
        <dsp:cNvPr id="0" name=""/>
        <dsp:cNvSpPr/>
      </dsp:nvSpPr>
      <dsp:spPr>
        <a:xfrm rot="4628571">
          <a:off x="5956414" y="2730257"/>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a:off x="6006009" y="2775881"/>
        <a:ext cx="297683" cy="323442"/>
      </dsp:txXfrm>
    </dsp:sp>
    <dsp:sp modelId="{0ABFABBD-6E57-4802-A94F-6C33925AAFB3}">
      <dsp:nvSpPr>
        <dsp:cNvPr id="0" name=""/>
        <dsp:cNvSpPr/>
      </dsp:nvSpPr>
      <dsp:spPr>
        <a:xfrm>
          <a:off x="5640084" y="3382636"/>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Sprint Planning</a:t>
          </a:r>
        </a:p>
      </dsp:txBody>
      <dsp:txXfrm>
        <a:off x="5873995" y="3616547"/>
        <a:ext cx="1129425" cy="1129425"/>
      </dsp:txXfrm>
    </dsp:sp>
    <dsp:sp modelId="{93E88D08-348F-41F9-92FF-5322B0CF12CE}">
      <dsp:nvSpPr>
        <dsp:cNvPr id="0" name=""/>
        <dsp:cNvSpPr/>
      </dsp:nvSpPr>
      <dsp:spPr>
        <a:xfrm rot="7714286">
          <a:off x="5485508" y="4840368"/>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rot="10800000">
        <a:off x="5589070" y="4898309"/>
        <a:ext cx="297683" cy="323442"/>
      </dsp:txXfrm>
    </dsp:sp>
    <dsp:sp modelId="{6C076E65-5D0A-4B88-B975-80E43C37C791}">
      <dsp:nvSpPr>
        <dsp:cNvPr id="0" name=""/>
        <dsp:cNvSpPr/>
      </dsp:nvSpPr>
      <dsp:spPr>
        <a:xfrm>
          <a:off x="4143939" y="5258743"/>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Development</a:t>
          </a:r>
        </a:p>
      </dsp:txBody>
      <dsp:txXfrm>
        <a:off x="4377850" y="5492654"/>
        <a:ext cx="1129425" cy="1129425"/>
      </dsp:txXfrm>
    </dsp:sp>
    <dsp:sp modelId="{1C3218D3-3D65-4D48-8697-C6B2D155274D}">
      <dsp:nvSpPr>
        <dsp:cNvPr id="0" name=""/>
        <dsp:cNvSpPr/>
      </dsp:nvSpPr>
      <dsp:spPr>
        <a:xfrm rot="10800000">
          <a:off x="3542152" y="5787831"/>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rot="10800000">
        <a:off x="3669731" y="5895645"/>
        <a:ext cx="297683" cy="323442"/>
      </dsp:txXfrm>
    </dsp:sp>
    <dsp:sp modelId="{60B030E1-51CD-4D0E-84D4-39DA402EF312}">
      <dsp:nvSpPr>
        <dsp:cNvPr id="0" name=""/>
        <dsp:cNvSpPr/>
      </dsp:nvSpPr>
      <dsp:spPr>
        <a:xfrm>
          <a:off x="1744309" y="5258743"/>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Testing</a:t>
          </a:r>
        </a:p>
      </dsp:txBody>
      <dsp:txXfrm>
        <a:off x="1978220" y="5492654"/>
        <a:ext cx="1129425" cy="1129425"/>
      </dsp:txXfrm>
    </dsp:sp>
    <dsp:sp modelId="{7179E04B-13F5-4E84-8BAF-D5D2D238C408}">
      <dsp:nvSpPr>
        <dsp:cNvPr id="0" name=""/>
        <dsp:cNvSpPr/>
      </dsp:nvSpPr>
      <dsp:spPr>
        <a:xfrm rot="13885714">
          <a:off x="1589733" y="4859187"/>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rot="10800000">
        <a:off x="1693295" y="5016874"/>
        <a:ext cx="297683" cy="323442"/>
      </dsp:txXfrm>
    </dsp:sp>
    <dsp:sp modelId="{B76DE015-C40A-44AE-88D4-90346429D926}">
      <dsp:nvSpPr>
        <dsp:cNvPr id="0" name=""/>
        <dsp:cNvSpPr/>
      </dsp:nvSpPr>
      <dsp:spPr>
        <a:xfrm>
          <a:off x="248164" y="3382636"/>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Deployment</a:t>
          </a:r>
        </a:p>
      </dsp:txBody>
      <dsp:txXfrm>
        <a:off x="482075" y="3616547"/>
        <a:ext cx="1129425" cy="1129425"/>
      </dsp:txXfrm>
    </dsp:sp>
    <dsp:sp modelId="{0EAB2DC1-F24A-47EC-ABB0-160E875016A6}">
      <dsp:nvSpPr>
        <dsp:cNvPr id="0" name=""/>
        <dsp:cNvSpPr/>
      </dsp:nvSpPr>
      <dsp:spPr>
        <a:xfrm rot="16971429">
          <a:off x="1098462" y="2753725"/>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a:off x="1148057" y="2923729"/>
        <a:ext cx="297683" cy="323442"/>
      </dsp:txXfrm>
    </dsp:sp>
    <dsp:sp modelId="{A9483935-8E70-42B2-9A66-42ED1D2F52AB}">
      <dsp:nvSpPr>
        <dsp:cNvPr id="0" name=""/>
        <dsp:cNvSpPr/>
      </dsp:nvSpPr>
      <dsp:spPr>
        <a:xfrm>
          <a:off x="782132" y="1043170"/>
          <a:ext cx="1597247" cy="1597247"/>
        </a:xfrm>
        <a:prstGeom prst="ellipse">
          <a:avLst/>
        </a:prstGeom>
        <a:solidFill>
          <a:schemeClr val="accent1">
            <a:lumMod val="60000"/>
            <a:lumOff val="4000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rPr>
            <a:t>Review &amp; Feedback</a:t>
          </a:r>
        </a:p>
      </dsp:txBody>
      <dsp:txXfrm>
        <a:off x="1016043" y="1277081"/>
        <a:ext cx="1129425" cy="1129425"/>
      </dsp:txXfrm>
    </dsp:sp>
    <dsp:sp modelId="{AC63BD67-1AAD-4CAE-94B5-901965425711}">
      <dsp:nvSpPr>
        <dsp:cNvPr id="0" name=""/>
        <dsp:cNvSpPr/>
      </dsp:nvSpPr>
      <dsp:spPr>
        <a:xfrm rot="20057143">
          <a:off x="2438277" y="1056900"/>
          <a:ext cx="425262" cy="539070"/>
        </a:xfrm>
        <a:prstGeom prst="rightArrow">
          <a:avLst>
            <a:gd name="adj1" fmla="val 60000"/>
            <a:gd name="adj2" fmla="val 50000"/>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b="1" kern="1200">
            <a:solidFill>
              <a:schemeClr val="tx1"/>
            </a:solidFill>
          </a:endParaRPr>
        </a:p>
      </dsp:txBody>
      <dsp:txXfrm>
        <a:off x="2444594" y="1192391"/>
        <a:ext cx="297683" cy="32344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97997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1957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61BEF0D-F0BB-DE4B-95CE-6DB70DBA9567}" type="datetimeFigureOut">
              <a:rPr lang="en-US" smtClean="0"/>
              <a:pPr/>
              <a:t>7/4/2026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7707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6132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91385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419825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6417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94934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7/4/2026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8890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916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0952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61BEF0D-F0BB-DE4B-95CE-6DB70DBA9567}" type="datetimeFigureOut">
              <a:rPr lang="en-US" smtClean="0"/>
              <a:pPr/>
              <a:t>7/4/2026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03621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sv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3.jpe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0.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image" Target="../media/image29.jpg"/><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1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7A183-0C15-4BB0-91E8-7FC2D7BA3AAF}"/>
              </a:ext>
            </a:extLst>
          </p:cNvPr>
          <p:cNvSpPr>
            <a:spLocks noGrp="1"/>
          </p:cNvSpPr>
          <p:nvPr>
            <p:ph type="ctrTitle"/>
          </p:nvPr>
        </p:nvSpPr>
        <p:spPr>
          <a:xfrm>
            <a:off x="344707" y="1214294"/>
            <a:ext cx="11332255" cy="3035808"/>
          </a:xfrm>
        </p:spPr>
        <p:txBody>
          <a:bodyPr>
            <a:noAutofit/>
          </a:bodyPr>
          <a:lstStyle/>
          <a:p>
            <a:pPr algn="ctr"/>
            <a:r>
              <a:rPr lang="en-US" sz="4400" b="1" dirty="0"/>
              <a:t>Online hospital MANAGEMENT SYSTEM </a:t>
            </a:r>
            <a:br>
              <a:rPr lang="en-US" sz="4400" b="1" dirty="0"/>
            </a:br>
            <a:r>
              <a:rPr lang="en-US" sz="4400" b="1" dirty="0"/>
              <a:t>for</a:t>
            </a:r>
            <a:br>
              <a:rPr lang="en-US" sz="4400" dirty="0"/>
            </a:br>
            <a:r>
              <a:rPr lang="en-US" sz="4400" b="1" dirty="0"/>
              <a:t>Healthcare plus hospital.</a:t>
            </a:r>
            <a:br>
              <a:rPr lang="en-US" sz="4400" dirty="0"/>
            </a:br>
            <a:endParaRPr lang="en-US" sz="4400" dirty="0"/>
          </a:p>
        </p:txBody>
      </p:sp>
      <p:sp>
        <p:nvSpPr>
          <p:cNvPr id="3" name="Subtitle 2">
            <a:extLst>
              <a:ext uri="{FF2B5EF4-FFF2-40B4-BE49-F238E27FC236}">
                <a16:creationId xmlns:a16="http://schemas.microsoft.com/office/drawing/2014/main" id="{7A6DE936-70B4-436F-BC52-925E91F580F0}"/>
              </a:ext>
            </a:extLst>
          </p:cNvPr>
          <p:cNvSpPr>
            <a:spLocks noGrp="1"/>
          </p:cNvSpPr>
          <p:nvPr>
            <p:ph type="subTitle" idx="1"/>
          </p:nvPr>
        </p:nvSpPr>
        <p:spPr/>
        <p:txBody>
          <a:bodyPr/>
          <a:lstStyle/>
          <a:p>
            <a:r>
              <a:rPr lang="en-US" b="1" dirty="0"/>
              <a:t>ITE 3962 Final Year Project (24S2) </a:t>
            </a:r>
          </a:p>
        </p:txBody>
      </p:sp>
      <p:sp>
        <p:nvSpPr>
          <p:cNvPr id="4" name="TextBox 3">
            <a:extLst>
              <a:ext uri="{FF2B5EF4-FFF2-40B4-BE49-F238E27FC236}">
                <a16:creationId xmlns:a16="http://schemas.microsoft.com/office/drawing/2014/main" id="{CC4E1B60-EA1A-4487-BBFA-DAF36E3A1BAF}"/>
              </a:ext>
            </a:extLst>
          </p:cNvPr>
          <p:cNvSpPr txBox="1"/>
          <p:nvPr/>
        </p:nvSpPr>
        <p:spPr>
          <a:xfrm>
            <a:off x="2187387" y="4793072"/>
            <a:ext cx="7646894" cy="1288879"/>
          </a:xfrm>
          <a:prstGeom prst="rect">
            <a:avLst/>
          </a:prstGeom>
          <a:noFill/>
        </p:spPr>
        <p:txBody>
          <a:bodyPr wrap="square" rtlCol="0">
            <a:spAutoFit/>
          </a:bodyPr>
          <a:lstStyle/>
          <a:p>
            <a:pPr algn="ctr">
              <a:lnSpc>
                <a:spcPct val="150000"/>
              </a:lnSpc>
            </a:pPr>
            <a:r>
              <a:rPr lang="en-US" b="1" dirty="0"/>
              <a:t>Presented by:</a:t>
            </a:r>
            <a:endParaRPr lang="en-US" dirty="0"/>
          </a:p>
          <a:p>
            <a:pPr algn="ctr">
              <a:lnSpc>
                <a:spcPct val="150000"/>
              </a:lnSpc>
            </a:pPr>
            <a:r>
              <a:rPr lang="en-US" dirty="0"/>
              <a:t>E2240189 - E.M.M.G.D.B. Edirisinghe.</a:t>
            </a:r>
          </a:p>
          <a:p>
            <a:pPr algn="ctr">
              <a:lnSpc>
                <a:spcPct val="150000"/>
              </a:lnSpc>
            </a:pPr>
            <a:r>
              <a:rPr lang="en-US" dirty="0"/>
              <a:t>Bachelor of Information Technology</a:t>
            </a:r>
          </a:p>
        </p:txBody>
      </p:sp>
    </p:spTree>
    <p:extLst>
      <p:ext uri="{BB962C8B-B14F-4D97-AF65-F5344CB8AC3E}">
        <p14:creationId xmlns:p14="http://schemas.microsoft.com/office/powerpoint/2010/main" val="3583206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flipH="1">
            <a:off x="8872512" y="0"/>
            <a:ext cx="3319488" cy="6858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4" name="Group 4"/>
          <p:cNvGrpSpPr/>
          <p:nvPr/>
        </p:nvGrpSpPr>
        <p:grpSpPr>
          <a:xfrm>
            <a:off x="685800" y="685800"/>
            <a:ext cx="10820400" cy="5486400"/>
            <a:chOff x="0" y="0"/>
            <a:chExt cx="4274726" cy="2167467"/>
          </a:xfrm>
        </p:grpSpPr>
        <p:sp>
          <p:nvSpPr>
            <p:cNvPr id="5" name="Freeform 5"/>
            <p:cNvSpPr/>
            <p:nvPr/>
          </p:nvSpPr>
          <p:spPr>
            <a:xfrm>
              <a:off x="0" y="0"/>
              <a:ext cx="4274726" cy="2167467"/>
            </a:xfrm>
            <a:custGeom>
              <a:avLst/>
              <a:gdLst/>
              <a:ahLst/>
              <a:cxnLst/>
              <a:rect l="l" t="t" r="r" b="b"/>
              <a:pathLst>
                <a:path w="4274726" h="2167467">
                  <a:moveTo>
                    <a:pt x="17649" y="0"/>
                  </a:moveTo>
                  <a:lnTo>
                    <a:pt x="4257077" y="0"/>
                  </a:lnTo>
                  <a:cubicBezTo>
                    <a:pt x="4266824" y="0"/>
                    <a:pt x="4274726" y="7902"/>
                    <a:pt x="4274726" y="17649"/>
                  </a:cubicBezTo>
                  <a:lnTo>
                    <a:pt x="4274726" y="2149818"/>
                  </a:lnTo>
                  <a:cubicBezTo>
                    <a:pt x="4274726" y="2154499"/>
                    <a:pt x="4272866" y="2158988"/>
                    <a:pt x="4269557" y="2162297"/>
                  </a:cubicBezTo>
                  <a:cubicBezTo>
                    <a:pt x="4266247" y="2165607"/>
                    <a:pt x="4261758" y="2167467"/>
                    <a:pt x="4257077" y="2167467"/>
                  </a:cubicBezTo>
                  <a:lnTo>
                    <a:pt x="17649" y="2167467"/>
                  </a:lnTo>
                  <a:cubicBezTo>
                    <a:pt x="12968" y="2167467"/>
                    <a:pt x="8479" y="2165607"/>
                    <a:pt x="5169" y="2162297"/>
                  </a:cubicBezTo>
                  <a:cubicBezTo>
                    <a:pt x="1859" y="2158988"/>
                    <a:pt x="0" y="2154499"/>
                    <a:pt x="0" y="2149818"/>
                  </a:cubicBezTo>
                  <a:lnTo>
                    <a:pt x="0" y="17649"/>
                  </a:lnTo>
                  <a:cubicBezTo>
                    <a:pt x="0" y="12968"/>
                    <a:pt x="1859" y="8479"/>
                    <a:pt x="5169" y="5169"/>
                  </a:cubicBezTo>
                  <a:cubicBezTo>
                    <a:pt x="8479" y="1859"/>
                    <a:pt x="12968" y="0"/>
                    <a:pt x="17649" y="0"/>
                  </a:cubicBezTo>
                  <a:close/>
                </a:path>
              </a:pathLst>
            </a:custGeom>
            <a:solidFill>
              <a:srgbClr val="EBF0F9">
                <a:alpha val="45882"/>
              </a:srgbClr>
            </a:solidFill>
            <a:ln w="38100" cap="rnd">
              <a:solidFill>
                <a:srgbClr val="000000">
                  <a:alpha val="45882"/>
                </a:srgbClr>
              </a:solidFill>
              <a:prstDash val="solid"/>
              <a:round/>
            </a:ln>
          </p:spPr>
        </p:sp>
        <p:sp>
          <p:nvSpPr>
            <p:cNvPr id="6" name="TextBox 6"/>
            <p:cNvSpPr txBox="1"/>
            <p:nvPr/>
          </p:nvSpPr>
          <p:spPr>
            <a:xfrm>
              <a:off x="0" y="76200"/>
              <a:ext cx="4274726" cy="2091267"/>
            </a:xfrm>
            <a:prstGeom prst="rect">
              <a:avLst/>
            </a:prstGeom>
          </p:spPr>
          <p:txBody>
            <a:bodyPr lIns="33867" tIns="33867" rIns="33867" bIns="33867" rtlCol="0" anchor="ctr"/>
            <a:lstStyle/>
            <a:p>
              <a:pPr algn="ctr">
                <a:lnSpc>
                  <a:spcPts val="1158"/>
                </a:lnSpc>
              </a:pPr>
              <a:endParaRPr sz="1200"/>
            </a:p>
          </p:txBody>
        </p:sp>
      </p:grpSp>
      <p:grpSp>
        <p:nvGrpSpPr>
          <p:cNvPr id="7" name="Group 7"/>
          <p:cNvGrpSpPr/>
          <p:nvPr/>
        </p:nvGrpSpPr>
        <p:grpSpPr>
          <a:xfrm>
            <a:off x="0" y="0"/>
            <a:ext cx="3363560" cy="6858000"/>
            <a:chOff x="0" y="0"/>
            <a:chExt cx="1328814" cy="2709333"/>
          </a:xfrm>
        </p:grpSpPr>
        <p:sp>
          <p:nvSpPr>
            <p:cNvPr id="8" name="Freeform 8"/>
            <p:cNvSpPr/>
            <p:nvPr/>
          </p:nvSpPr>
          <p:spPr>
            <a:xfrm>
              <a:off x="0" y="0"/>
              <a:ext cx="1328814" cy="2709333"/>
            </a:xfrm>
            <a:custGeom>
              <a:avLst/>
              <a:gdLst/>
              <a:ahLst/>
              <a:cxnLst/>
              <a:rect l="l" t="t" r="r" b="b"/>
              <a:pathLst>
                <a:path w="1328814" h="2709333">
                  <a:moveTo>
                    <a:pt x="0" y="0"/>
                  </a:moveTo>
                  <a:lnTo>
                    <a:pt x="1328814" y="0"/>
                  </a:lnTo>
                  <a:lnTo>
                    <a:pt x="1328814" y="2709333"/>
                  </a:lnTo>
                  <a:lnTo>
                    <a:pt x="0" y="2709333"/>
                  </a:lnTo>
                  <a:close/>
                </a:path>
              </a:pathLst>
            </a:custGeom>
            <a:gradFill rotWithShape="1">
              <a:gsLst>
                <a:gs pos="0">
                  <a:srgbClr val="11DAB7">
                    <a:alpha val="100000"/>
                  </a:srgbClr>
                </a:gs>
                <a:gs pos="100000">
                  <a:srgbClr val="087C8D">
                    <a:alpha val="100000"/>
                  </a:srgbClr>
                </a:gs>
              </a:gsLst>
              <a:lin ang="5400000"/>
            </a:gradFill>
          </p:spPr>
        </p:sp>
        <p:sp>
          <p:nvSpPr>
            <p:cNvPr id="9" name="TextBox 9"/>
            <p:cNvSpPr txBox="1"/>
            <p:nvPr/>
          </p:nvSpPr>
          <p:spPr>
            <a:xfrm>
              <a:off x="0" y="76200"/>
              <a:ext cx="1328814" cy="2633133"/>
            </a:xfrm>
            <a:prstGeom prst="rect">
              <a:avLst/>
            </a:prstGeom>
          </p:spPr>
          <p:txBody>
            <a:bodyPr lIns="33867" tIns="33867" rIns="33867" bIns="33867" rtlCol="0" anchor="ctr"/>
            <a:lstStyle/>
            <a:p>
              <a:pPr algn="ctr">
                <a:lnSpc>
                  <a:spcPts val="1158"/>
                </a:lnSpc>
              </a:pPr>
              <a:endParaRPr sz="1200"/>
            </a:p>
          </p:txBody>
        </p:sp>
      </p:grpSp>
      <p:grpSp>
        <p:nvGrpSpPr>
          <p:cNvPr id="10" name="Group 10"/>
          <p:cNvGrpSpPr/>
          <p:nvPr/>
        </p:nvGrpSpPr>
        <p:grpSpPr>
          <a:xfrm>
            <a:off x="685800" y="1197936"/>
            <a:ext cx="3819096" cy="4462129"/>
            <a:chOff x="0" y="0"/>
            <a:chExt cx="887517" cy="1036951"/>
          </a:xfrm>
        </p:grpSpPr>
        <p:sp>
          <p:nvSpPr>
            <p:cNvPr id="11" name="Freeform 11"/>
            <p:cNvSpPr/>
            <p:nvPr/>
          </p:nvSpPr>
          <p:spPr>
            <a:xfrm>
              <a:off x="0" y="0"/>
              <a:ext cx="887517" cy="1036951"/>
            </a:xfrm>
            <a:custGeom>
              <a:avLst/>
              <a:gdLst/>
              <a:ahLst/>
              <a:cxnLst/>
              <a:rect l="l" t="t" r="r" b="b"/>
              <a:pathLst>
                <a:path w="887517" h="1036951">
                  <a:moveTo>
                    <a:pt x="31083" y="0"/>
                  </a:moveTo>
                  <a:lnTo>
                    <a:pt x="856434" y="0"/>
                  </a:lnTo>
                  <a:cubicBezTo>
                    <a:pt x="864678" y="0"/>
                    <a:pt x="872584" y="3275"/>
                    <a:pt x="878413" y="9104"/>
                  </a:cubicBezTo>
                  <a:cubicBezTo>
                    <a:pt x="884242" y="14933"/>
                    <a:pt x="887517" y="22839"/>
                    <a:pt x="887517" y="31083"/>
                  </a:cubicBezTo>
                  <a:lnTo>
                    <a:pt x="887517" y="1005868"/>
                  </a:lnTo>
                  <a:cubicBezTo>
                    <a:pt x="887517" y="1023034"/>
                    <a:pt x="873601" y="1036951"/>
                    <a:pt x="856434" y="1036951"/>
                  </a:cubicBezTo>
                  <a:lnTo>
                    <a:pt x="31083" y="1036951"/>
                  </a:lnTo>
                  <a:cubicBezTo>
                    <a:pt x="13916" y="1036951"/>
                    <a:pt x="0" y="1023034"/>
                    <a:pt x="0" y="1005868"/>
                  </a:cubicBezTo>
                  <a:lnTo>
                    <a:pt x="0" y="31083"/>
                  </a:lnTo>
                  <a:cubicBezTo>
                    <a:pt x="0" y="13916"/>
                    <a:pt x="13916" y="0"/>
                    <a:pt x="31083" y="0"/>
                  </a:cubicBezTo>
                  <a:close/>
                </a:path>
              </a:pathLst>
            </a:custGeom>
            <a:blipFill>
              <a:blip r:embed="rId5"/>
              <a:stretch>
                <a:fillRect l="-8960" r="-66405"/>
              </a:stretch>
            </a:blipFill>
            <a:ln w="95250" cap="rnd">
              <a:solidFill>
                <a:srgbClr val="00DFB6"/>
              </a:solidFill>
              <a:prstDash val="solid"/>
              <a:round/>
            </a:ln>
          </p:spPr>
        </p:sp>
      </p:grpSp>
      <p:grpSp>
        <p:nvGrpSpPr>
          <p:cNvPr id="12" name="Group 12"/>
          <p:cNvGrpSpPr/>
          <p:nvPr/>
        </p:nvGrpSpPr>
        <p:grpSpPr>
          <a:xfrm>
            <a:off x="2595348" y="543333"/>
            <a:ext cx="2853699" cy="284934"/>
            <a:chOff x="0" y="0"/>
            <a:chExt cx="1127387" cy="112567"/>
          </a:xfrm>
        </p:grpSpPr>
        <p:sp>
          <p:nvSpPr>
            <p:cNvPr id="13" name="Freeform 13"/>
            <p:cNvSpPr/>
            <p:nvPr/>
          </p:nvSpPr>
          <p:spPr>
            <a:xfrm>
              <a:off x="0" y="0"/>
              <a:ext cx="1127387" cy="112567"/>
            </a:xfrm>
            <a:custGeom>
              <a:avLst/>
              <a:gdLst/>
              <a:ahLst/>
              <a:cxnLst/>
              <a:rect l="l" t="t" r="r" b="b"/>
              <a:pathLst>
                <a:path w="1127387" h="112567">
                  <a:moveTo>
                    <a:pt x="27129" y="0"/>
                  </a:moveTo>
                  <a:lnTo>
                    <a:pt x="1100258" y="0"/>
                  </a:lnTo>
                  <a:cubicBezTo>
                    <a:pt x="1115241" y="0"/>
                    <a:pt x="1127387" y="12146"/>
                    <a:pt x="1127387" y="27129"/>
                  </a:cubicBezTo>
                  <a:lnTo>
                    <a:pt x="1127387" y="85437"/>
                  </a:lnTo>
                  <a:cubicBezTo>
                    <a:pt x="1127387" y="100420"/>
                    <a:pt x="1115241" y="112567"/>
                    <a:pt x="1100258" y="112567"/>
                  </a:cubicBezTo>
                  <a:lnTo>
                    <a:pt x="27129" y="112567"/>
                  </a:lnTo>
                  <a:cubicBezTo>
                    <a:pt x="12146" y="112567"/>
                    <a:pt x="0" y="100420"/>
                    <a:pt x="0" y="85437"/>
                  </a:cubicBezTo>
                  <a:lnTo>
                    <a:pt x="0" y="27129"/>
                  </a:lnTo>
                  <a:cubicBezTo>
                    <a:pt x="0" y="12146"/>
                    <a:pt x="12146" y="0"/>
                    <a:pt x="27129" y="0"/>
                  </a:cubicBezTo>
                  <a:close/>
                </a:path>
              </a:pathLst>
            </a:custGeom>
            <a:gradFill rotWithShape="1">
              <a:gsLst>
                <a:gs pos="0">
                  <a:srgbClr val="11DAB7">
                    <a:alpha val="100000"/>
                  </a:srgbClr>
                </a:gs>
                <a:gs pos="100000">
                  <a:srgbClr val="087C8D">
                    <a:alpha val="100000"/>
                  </a:srgbClr>
                </a:gs>
              </a:gsLst>
              <a:lin ang="0"/>
            </a:gradFill>
          </p:spPr>
        </p:sp>
        <p:sp>
          <p:nvSpPr>
            <p:cNvPr id="14" name="TextBox 14"/>
            <p:cNvSpPr txBox="1"/>
            <p:nvPr/>
          </p:nvSpPr>
          <p:spPr>
            <a:xfrm>
              <a:off x="0" y="76200"/>
              <a:ext cx="1127387" cy="36367"/>
            </a:xfrm>
            <a:prstGeom prst="rect">
              <a:avLst/>
            </a:prstGeom>
          </p:spPr>
          <p:txBody>
            <a:bodyPr lIns="33867" tIns="33867" rIns="33867" bIns="33867" rtlCol="0" anchor="ctr"/>
            <a:lstStyle/>
            <a:p>
              <a:pPr algn="ctr">
                <a:lnSpc>
                  <a:spcPts val="1158"/>
                </a:lnSpc>
              </a:pPr>
              <a:endParaRPr sz="1200"/>
            </a:p>
          </p:txBody>
        </p:sp>
      </p:grpSp>
      <p:grpSp>
        <p:nvGrpSpPr>
          <p:cNvPr id="15" name="Group 15"/>
          <p:cNvGrpSpPr/>
          <p:nvPr/>
        </p:nvGrpSpPr>
        <p:grpSpPr>
          <a:xfrm>
            <a:off x="4022198" y="4081139"/>
            <a:ext cx="884411" cy="1173253"/>
            <a:chOff x="0" y="0"/>
            <a:chExt cx="349397" cy="463507"/>
          </a:xfrm>
        </p:grpSpPr>
        <p:sp>
          <p:nvSpPr>
            <p:cNvPr id="16" name="Freeform 16"/>
            <p:cNvSpPr/>
            <p:nvPr/>
          </p:nvSpPr>
          <p:spPr>
            <a:xfrm>
              <a:off x="0" y="0"/>
              <a:ext cx="349397" cy="463507"/>
            </a:xfrm>
            <a:custGeom>
              <a:avLst/>
              <a:gdLst/>
              <a:ahLst/>
              <a:cxnLst/>
              <a:rect l="l" t="t" r="r" b="b"/>
              <a:pathLst>
                <a:path w="349397" h="463507">
                  <a:moveTo>
                    <a:pt x="87538" y="0"/>
                  </a:moveTo>
                  <a:lnTo>
                    <a:pt x="261860" y="0"/>
                  </a:lnTo>
                  <a:cubicBezTo>
                    <a:pt x="285076" y="0"/>
                    <a:pt x="307341" y="9223"/>
                    <a:pt x="323758" y="25639"/>
                  </a:cubicBezTo>
                  <a:cubicBezTo>
                    <a:pt x="340174" y="42056"/>
                    <a:pt x="349397" y="64321"/>
                    <a:pt x="349397" y="87538"/>
                  </a:cubicBezTo>
                  <a:lnTo>
                    <a:pt x="349397" y="375970"/>
                  </a:lnTo>
                  <a:cubicBezTo>
                    <a:pt x="349397" y="399186"/>
                    <a:pt x="340174" y="421452"/>
                    <a:pt x="323758" y="437868"/>
                  </a:cubicBezTo>
                  <a:cubicBezTo>
                    <a:pt x="307341" y="454285"/>
                    <a:pt x="285076" y="463507"/>
                    <a:pt x="261860" y="463507"/>
                  </a:cubicBezTo>
                  <a:lnTo>
                    <a:pt x="87538" y="463507"/>
                  </a:lnTo>
                  <a:cubicBezTo>
                    <a:pt x="39192" y="463507"/>
                    <a:pt x="0" y="424315"/>
                    <a:pt x="0" y="375970"/>
                  </a:cubicBezTo>
                  <a:lnTo>
                    <a:pt x="0" y="87538"/>
                  </a:lnTo>
                  <a:cubicBezTo>
                    <a:pt x="0" y="39192"/>
                    <a:pt x="39192" y="0"/>
                    <a:pt x="87538" y="0"/>
                  </a:cubicBezTo>
                  <a:close/>
                </a:path>
              </a:pathLst>
            </a:custGeom>
            <a:solidFill>
              <a:srgbClr val="FE6B00"/>
            </a:solidFill>
          </p:spPr>
        </p:sp>
        <p:sp>
          <p:nvSpPr>
            <p:cNvPr id="17" name="TextBox 17"/>
            <p:cNvSpPr txBox="1"/>
            <p:nvPr/>
          </p:nvSpPr>
          <p:spPr>
            <a:xfrm>
              <a:off x="0" y="76200"/>
              <a:ext cx="349397" cy="387307"/>
            </a:xfrm>
            <a:prstGeom prst="rect">
              <a:avLst/>
            </a:prstGeom>
          </p:spPr>
          <p:txBody>
            <a:bodyPr lIns="33867" tIns="33867" rIns="33867" bIns="33867" rtlCol="0" anchor="ctr"/>
            <a:lstStyle/>
            <a:p>
              <a:pPr algn="ctr">
                <a:lnSpc>
                  <a:spcPts val="1158"/>
                </a:lnSpc>
              </a:pPr>
              <a:endParaRPr sz="1200"/>
            </a:p>
          </p:txBody>
        </p:sp>
      </p:grpSp>
      <p:grpSp>
        <p:nvGrpSpPr>
          <p:cNvPr id="18" name="Group 18"/>
          <p:cNvGrpSpPr/>
          <p:nvPr/>
        </p:nvGrpSpPr>
        <p:grpSpPr>
          <a:xfrm>
            <a:off x="9536671" y="6029733"/>
            <a:ext cx="2655329" cy="284934"/>
            <a:chOff x="0" y="0"/>
            <a:chExt cx="1127387" cy="112567"/>
          </a:xfrm>
        </p:grpSpPr>
        <p:sp>
          <p:nvSpPr>
            <p:cNvPr id="19" name="Freeform 19"/>
            <p:cNvSpPr/>
            <p:nvPr/>
          </p:nvSpPr>
          <p:spPr>
            <a:xfrm>
              <a:off x="0" y="0"/>
              <a:ext cx="1127387" cy="112567"/>
            </a:xfrm>
            <a:custGeom>
              <a:avLst/>
              <a:gdLst/>
              <a:ahLst/>
              <a:cxnLst/>
              <a:rect l="l" t="t" r="r" b="b"/>
              <a:pathLst>
                <a:path w="1127387" h="112567">
                  <a:moveTo>
                    <a:pt x="27129" y="0"/>
                  </a:moveTo>
                  <a:lnTo>
                    <a:pt x="1100258" y="0"/>
                  </a:lnTo>
                  <a:cubicBezTo>
                    <a:pt x="1115241" y="0"/>
                    <a:pt x="1127387" y="12146"/>
                    <a:pt x="1127387" y="27129"/>
                  </a:cubicBezTo>
                  <a:lnTo>
                    <a:pt x="1127387" y="85437"/>
                  </a:lnTo>
                  <a:cubicBezTo>
                    <a:pt x="1127387" y="100420"/>
                    <a:pt x="1115241" y="112567"/>
                    <a:pt x="1100258" y="112567"/>
                  </a:cubicBezTo>
                  <a:lnTo>
                    <a:pt x="27129" y="112567"/>
                  </a:lnTo>
                  <a:cubicBezTo>
                    <a:pt x="12146" y="112567"/>
                    <a:pt x="0" y="100420"/>
                    <a:pt x="0" y="85437"/>
                  </a:cubicBezTo>
                  <a:lnTo>
                    <a:pt x="0" y="27129"/>
                  </a:lnTo>
                  <a:cubicBezTo>
                    <a:pt x="0" y="12146"/>
                    <a:pt x="12146" y="0"/>
                    <a:pt x="27129" y="0"/>
                  </a:cubicBezTo>
                  <a:close/>
                </a:path>
              </a:pathLst>
            </a:custGeom>
            <a:gradFill rotWithShape="1">
              <a:gsLst>
                <a:gs pos="0">
                  <a:srgbClr val="11DAB7">
                    <a:alpha val="100000"/>
                  </a:srgbClr>
                </a:gs>
                <a:gs pos="100000">
                  <a:srgbClr val="087C8D">
                    <a:alpha val="100000"/>
                  </a:srgbClr>
                </a:gs>
              </a:gsLst>
              <a:path path="circle">
                <a:fillToRect r="100000" b="100000"/>
              </a:path>
              <a:tileRect l="-100000" t="-100000"/>
            </a:gradFill>
          </p:spPr>
        </p:sp>
        <p:sp>
          <p:nvSpPr>
            <p:cNvPr id="20" name="TextBox 20"/>
            <p:cNvSpPr txBox="1"/>
            <p:nvPr/>
          </p:nvSpPr>
          <p:spPr>
            <a:xfrm>
              <a:off x="0" y="76200"/>
              <a:ext cx="1127387" cy="36367"/>
            </a:xfrm>
            <a:prstGeom prst="rect">
              <a:avLst/>
            </a:prstGeom>
          </p:spPr>
          <p:txBody>
            <a:bodyPr lIns="33867" tIns="33867" rIns="33867" bIns="33867" rtlCol="0" anchor="ctr"/>
            <a:lstStyle/>
            <a:p>
              <a:pPr algn="ctr">
                <a:lnSpc>
                  <a:spcPts val="1158"/>
                </a:lnSpc>
              </a:pPr>
              <a:endParaRPr sz="1200"/>
            </a:p>
          </p:txBody>
        </p:sp>
      </p:grpSp>
      <p:sp>
        <p:nvSpPr>
          <p:cNvPr id="21" name="Freeform 21"/>
          <p:cNvSpPr/>
          <p:nvPr/>
        </p:nvSpPr>
        <p:spPr>
          <a:xfrm>
            <a:off x="10811624" y="930342"/>
            <a:ext cx="419491" cy="419491"/>
          </a:xfrm>
          <a:custGeom>
            <a:avLst/>
            <a:gdLst/>
            <a:ahLst/>
            <a:cxnLst/>
            <a:rect l="l" t="t" r="r" b="b"/>
            <a:pathLst>
              <a:path w="629237" h="629237">
                <a:moveTo>
                  <a:pt x="0" y="0"/>
                </a:moveTo>
                <a:lnTo>
                  <a:pt x="629237" y="0"/>
                </a:lnTo>
                <a:lnTo>
                  <a:pt x="629237" y="629237"/>
                </a:lnTo>
                <a:lnTo>
                  <a:pt x="0" y="6292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2" name="Freeform 22"/>
          <p:cNvSpPr/>
          <p:nvPr/>
        </p:nvSpPr>
        <p:spPr>
          <a:xfrm>
            <a:off x="4168302" y="4261641"/>
            <a:ext cx="592203" cy="812249"/>
          </a:xfrm>
          <a:custGeom>
            <a:avLst/>
            <a:gdLst/>
            <a:ahLst/>
            <a:cxnLst/>
            <a:rect l="l" t="t" r="r" b="b"/>
            <a:pathLst>
              <a:path w="888305" h="1218374">
                <a:moveTo>
                  <a:pt x="0" y="0"/>
                </a:moveTo>
                <a:lnTo>
                  <a:pt x="888306" y="0"/>
                </a:lnTo>
                <a:lnTo>
                  <a:pt x="888306" y="1218374"/>
                </a:lnTo>
                <a:lnTo>
                  <a:pt x="0" y="12183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3" name="Freeform 23"/>
          <p:cNvSpPr/>
          <p:nvPr/>
        </p:nvSpPr>
        <p:spPr>
          <a:xfrm>
            <a:off x="5029557" y="5660065"/>
            <a:ext cx="419491" cy="419491"/>
          </a:xfrm>
          <a:custGeom>
            <a:avLst/>
            <a:gdLst/>
            <a:ahLst/>
            <a:cxnLst/>
            <a:rect l="l" t="t" r="r" b="b"/>
            <a:pathLst>
              <a:path w="629237" h="629237">
                <a:moveTo>
                  <a:pt x="0" y="0"/>
                </a:moveTo>
                <a:lnTo>
                  <a:pt x="629237" y="0"/>
                </a:lnTo>
                <a:lnTo>
                  <a:pt x="629237" y="629236"/>
                </a:lnTo>
                <a:lnTo>
                  <a:pt x="0" y="62923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4" name="Group 24"/>
          <p:cNvGrpSpPr/>
          <p:nvPr/>
        </p:nvGrpSpPr>
        <p:grpSpPr>
          <a:xfrm>
            <a:off x="-208538" y="1558755"/>
            <a:ext cx="1266212" cy="569868"/>
            <a:chOff x="0" y="0"/>
            <a:chExt cx="500232" cy="225133"/>
          </a:xfrm>
        </p:grpSpPr>
        <p:sp>
          <p:nvSpPr>
            <p:cNvPr id="25" name="Freeform 25"/>
            <p:cNvSpPr/>
            <p:nvPr/>
          </p:nvSpPr>
          <p:spPr>
            <a:xfrm>
              <a:off x="0" y="0"/>
              <a:ext cx="500232" cy="225133"/>
            </a:xfrm>
            <a:custGeom>
              <a:avLst/>
              <a:gdLst/>
              <a:ahLst/>
              <a:cxnLst/>
              <a:rect l="l" t="t" r="r" b="b"/>
              <a:pathLst>
                <a:path w="500232" h="225133">
                  <a:moveTo>
                    <a:pt x="61142" y="0"/>
                  </a:moveTo>
                  <a:lnTo>
                    <a:pt x="439090" y="0"/>
                  </a:lnTo>
                  <a:cubicBezTo>
                    <a:pt x="455305" y="0"/>
                    <a:pt x="470857" y="6442"/>
                    <a:pt x="482324" y="17908"/>
                  </a:cubicBezTo>
                  <a:cubicBezTo>
                    <a:pt x="493790" y="29375"/>
                    <a:pt x="500232" y="44926"/>
                    <a:pt x="500232" y="61142"/>
                  </a:cubicBezTo>
                  <a:lnTo>
                    <a:pt x="500232" y="163991"/>
                  </a:lnTo>
                  <a:cubicBezTo>
                    <a:pt x="500232" y="197759"/>
                    <a:pt x="472858" y="225133"/>
                    <a:pt x="439090" y="225133"/>
                  </a:cubicBezTo>
                  <a:lnTo>
                    <a:pt x="61142" y="225133"/>
                  </a:lnTo>
                  <a:cubicBezTo>
                    <a:pt x="27374" y="225133"/>
                    <a:pt x="0" y="197759"/>
                    <a:pt x="0" y="163991"/>
                  </a:cubicBezTo>
                  <a:lnTo>
                    <a:pt x="0" y="61142"/>
                  </a:lnTo>
                  <a:cubicBezTo>
                    <a:pt x="0" y="27374"/>
                    <a:pt x="27374" y="0"/>
                    <a:pt x="61142" y="0"/>
                  </a:cubicBezTo>
                  <a:close/>
                </a:path>
              </a:pathLst>
            </a:custGeom>
            <a:solidFill>
              <a:srgbClr val="1A2768"/>
            </a:solidFill>
          </p:spPr>
        </p:sp>
        <p:sp>
          <p:nvSpPr>
            <p:cNvPr id="26" name="TextBox 26"/>
            <p:cNvSpPr txBox="1"/>
            <p:nvPr/>
          </p:nvSpPr>
          <p:spPr>
            <a:xfrm>
              <a:off x="0" y="76200"/>
              <a:ext cx="500232" cy="148933"/>
            </a:xfrm>
            <a:prstGeom prst="rect">
              <a:avLst/>
            </a:prstGeom>
          </p:spPr>
          <p:txBody>
            <a:bodyPr lIns="33867" tIns="33867" rIns="33867" bIns="33867" rtlCol="0" anchor="ctr"/>
            <a:lstStyle/>
            <a:p>
              <a:pPr algn="ctr">
                <a:lnSpc>
                  <a:spcPts val="1158"/>
                </a:lnSpc>
              </a:pPr>
              <a:endParaRPr sz="1200"/>
            </a:p>
          </p:txBody>
        </p:sp>
      </p:grpSp>
      <p:sp>
        <p:nvSpPr>
          <p:cNvPr id="28" name="TextBox 28"/>
          <p:cNvSpPr txBox="1"/>
          <p:nvPr/>
        </p:nvSpPr>
        <p:spPr>
          <a:xfrm>
            <a:off x="5619979" y="1439235"/>
            <a:ext cx="4927151" cy="591252"/>
          </a:xfrm>
          <a:prstGeom prst="rect">
            <a:avLst/>
          </a:prstGeom>
        </p:spPr>
        <p:txBody>
          <a:bodyPr wrap="square" lIns="0" tIns="0" rIns="0" bIns="0" rtlCol="0" anchor="t">
            <a:spAutoFit/>
          </a:bodyPr>
          <a:lstStyle/>
          <a:p>
            <a:pPr>
              <a:lnSpc>
                <a:spcPts val="4431"/>
              </a:lnSpc>
            </a:pPr>
            <a:r>
              <a:rPr lang="en-US" sz="5755" b="1" dirty="0">
                <a:solidFill>
                  <a:srgbClr val="12455E"/>
                </a:solidFill>
                <a:latin typeface="Signika Bold"/>
                <a:ea typeface="Signika Bold"/>
                <a:cs typeface="Signika Bold"/>
                <a:sym typeface="Signika Bold"/>
              </a:rPr>
              <a:t>Introduction </a:t>
            </a:r>
          </a:p>
        </p:txBody>
      </p:sp>
      <p:sp>
        <p:nvSpPr>
          <p:cNvPr id="29" name="TextBox 29"/>
          <p:cNvSpPr txBox="1"/>
          <p:nvPr/>
        </p:nvSpPr>
        <p:spPr>
          <a:xfrm>
            <a:off x="5285165" y="2128623"/>
            <a:ext cx="5945949" cy="3176319"/>
          </a:xfrm>
          <a:prstGeom prst="rect">
            <a:avLst/>
          </a:prstGeom>
        </p:spPr>
        <p:txBody>
          <a:bodyPr wrap="square" lIns="0" tIns="0" rIns="0" bIns="0" rtlCol="0" anchor="t">
            <a:spAutoFit/>
          </a:bodyPr>
          <a:lstStyle/>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2000" b="1" i="0" u="none" strike="noStrike" kern="1200" cap="none" spc="0" normalizeH="0" baseline="0" noProof="0" dirty="0">
                <a:ln>
                  <a:noFill/>
                </a:ln>
                <a:solidFill>
                  <a:prstClr val="black"/>
                </a:solidFill>
                <a:effectLst/>
                <a:uLnTx/>
                <a:uFillTx/>
                <a:latin typeface="Rockwell" panose="02060603020205020403"/>
                <a:ea typeface="+mn-ea"/>
                <a:cs typeface="+mn-cs"/>
              </a:rPr>
              <a:t>HealthCare Plus is a leading hospital.</a:t>
            </a:r>
          </a:p>
          <a:p>
            <a:pPr marL="0" marR="0" lvl="0" indent="-182880" algn="just" defTabSz="914400" rtl="0" eaLnBrk="1" fontAlgn="auto" latinLnBrk="0" hangingPunct="1">
              <a:lnSpc>
                <a:spcPct val="150000"/>
              </a:lnSpc>
              <a:spcBef>
                <a:spcPts val="0"/>
              </a:spcBef>
              <a:spcAft>
                <a:spcPts val="0"/>
              </a:spcAft>
              <a:buClr>
                <a:srgbClr val="D34817">
                  <a:lumMod val="75000"/>
                </a:srgbClr>
              </a:buClr>
              <a:buSzPct val="85000"/>
              <a:buFont typeface="Wingdings" pitchFamily="2" charset="2"/>
              <a:buChar char="§"/>
              <a:tabLst/>
              <a:defRPr/>
            </a:pP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They need a system including patient care, streamline operations, and improve communication between patients and healthcare providers.</a:t>
            </a:r>
          </a:p>
          <a:p>
            <a:pPr marL="0" marR="0" lvl="0" indent="-182880" algn="just" defTabSz="914400" rtl="0" eaLnBrk="1" fontAlgn="auto" latinLnBrk="0" hangingPunct="1">
              <a:lnSpc>
                <a:spcPct val="150000"/>
              </a:lnSpc>
              <a:spcBef>
                <a:spcPts val="0"/>
              </a:spcBef>
              <a:spcAft>
                <a:spcPts val="0"/>
              </a:spcAft>
              <a:buClr>
                <a:srgbClr val="D34817">
                  <a:lumMod val="75000"/>
                </a:srgbClr>
              </a:buClr>
              <a:buSzPct val="85000"/>
              <a:buFont typeface="Wingdings" pitchFamily="2" charset="2"/>
              <a:buChar char="§"/>
              <a:tabLst/>
              <a:defRPr/>
            </a:pPr>
            <a:r>
              <a:rPr lang="en-US" sz="2000" b="1">
                <a:solidFill>
                  <a:prstClr val="black"/>
                </a:solidFill>
                <a:latin typeface="Times New Roman" panose="02020603050405020304" pitchFamily="18" charset="0"/>
                <a:ea typeface="Times New Roman" panose="02020603050405020304" pitchFamily="18" charset="0"/>
              </a:rPr>
              <a:t>They need </a:t>
            </a:r>
            <a:r>
              <a:rPr lang="en-US" sz="2000" b="1" dirty="0">
                <a:solidFill>
                  <a:prstClr val="black"/>
                </a:solidFill>
                <a:latin typeface="Times New Roman" panose="02020603050405020304" pitchFamily="18" charset="0"/>
                <a:ea typeface="Times New Roman" panose="02020603050405020304" pitchFamily="18" charset="0"/>
              </a:rPr>
              <a:t>a</a:t>
            </a:r>
            <a:r>
              <a:rPr kumimoji="0" lang="en-US" sz="2000" b="1" i="0" u="none" strike="noStrike" kern="1200" cap="none" spc="0" normalizeH="0" baseline="0" noProof="0">
                <a:ln>
                  <a:noFill/>
                </a:ln>
                <a:solidFill>
                  <a:prstClr val="black"/>
                </a:solidFill>
                <a:effectLst/>
                <a:uLnTx/>
                <a:uFillTx/>
                <a:latin typeface="Times New Roman" panose="02020603050405020304" pitchFamily="18" charset="0"/>
                <a:ea typeface="Times New Roman" panose="02020603050405020304" pitchFamily="18" charset="0"/>
                <a:cs typeface="+mn-cs"/>
              </a:rPr>
              <a:t>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full-featured hospital management platform that streamlines clinical and administrative operations.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en-US"/>
          </a:p>
        </p:txBody>
      </p:sp>
      <p:grpSp>
        <p:nvGrpSpPr>
          <p:cNvPr id="3" name="Group 3"/>
          <p:cNvGrpSpPr/>
          <p:nvPr/>
        </p:nvGrpSpPr>
        <p:grpSpPr>
          <a:xfrm>
            <a:off x="5006708" y="2556117"/>
            <a:ext cx="6499492" cy="3616083"/>
            <a:chOff x="0" y="0"/>
            <a:chExt cx="2476947" cy="1265238"/>
          </a:xfrm>
        </p:grpSpPr>
        <p:sp>
          <p:nvSpPr>
            <p:cNvPr id="4" name="Freeform 4"/>
            <p:cNvSpPr/>
            <p:nvPr/>
          </p:nvSpPr>
          <p:spPr>
            <a:xfrm>
              <a:off x="0" y="0"/>
              <a:ext cx="2476947" cy="1265238"/>
            </a:xfrm>
            <a:custGeom>
              <a:avLst/>
              <a:gdLst/>
              <a:ahLst/>
              <a:cxnLst/>
              <a:rect l="l" t="t" r="r" b="b"/>
              <a:pathLst>
                <a:path w="2476947" h="1265238">
                  <a:moveTo>
                    <a:pt x="30458" y="0"/>
                  </a:moveTo>
                  <a:lnTo>
                    <a:pt x="2446489" y="0"/>
                  </a:lnTo>
                  <a:cubicBezTo>
                    <a:pt x="2454567" y="0"/>
                    <a:pt x="2462314" y="3209"/>
                    <a:pt x="2468026" y="8921"/>
                  </a:cubicBezTo>
                  <a:cubicBezTo>
                    <a:pt x="2473738" y="14633"/>
                    <a:pt x="2476947" y="22380"/>
                    <a:pt x="2476947" y="30458"/>
                  </a:cubicBezTo>
                  <a:lnTo>
                    <a:pt x="2476947" y="1234780"/>
                  </a:lnTo>
                  <a:cubicBezTo>
                    <a:pt x="2476947" y="1251601"/>
                    <a:pt x="2463310" y="1265238"/>
                    <a:pt x="2446489" y="1265238"/>
                  </a:cubicBezTo>
                  <a:lnTo>
                    <a:pt x="30458" y="1265238"/>
                  </a:lnTo>
                  <a:cubicBezTo>
                    <a:pt x="13637" y="1265238"/>
                    <a:pt x="0" y="1251601"/>
                    <a:pt x="0" y="1234780"/>
                  </a:cubicBezTo>
                  <a:lnTo>
                    <a:pt x="0" y="30458"/>
                  </a:lnTo>
                  <a:cubicBezTo>
                    <a:pt x="0" y="13637"/>
                    <a:pt x="13637" y="0"/>
                    <a:pt x="30458" y="0"/>
                  </a:cubicBezTo>
                  <a:close/>
                </a:path>
              </a:pathLst>
            </a:custGeom>
            <a:solidFill>
              <a:srgbClr val="EBF0F9">
                <a:alpha val="45882"/>
              </a:srgbClr>
            </a:solidFill>
            <a:ln w="38100" cap="rnd">
              <a:solidFill>
                <a:srgbClr val="000000">
                  <a:alpha val="45882"/>
                </a:srgbClr>
              </a:solidFill>
              <a:prstDash val="solid"/>
              <a:round/>
            </a:ln>
          </p:spPr>
        </p:sp>
        <p:sp>
          <p:nvSpPr>
            <p:cNvPr id="5" name="TextBox 5"/>
            <p:cNvSpPr txBox="1"/>
            <p:nvPr/>
          </p:nvSpPr>
          <p:spPr>
            <a:xfrm>
              <a:off x="0" y="76200"/>
              <a:ext cx="2476947" cy="1189038"/>
            </a:xfrm>
            <a:prstGeom prst="rect">
              <a:avLst/>
            </a:prstGeom>
          </p:spPr>
          <p:txBody>
            <a:bodyPr lIns="33867" tIns="33867" rIns="33867" bIns="33867" rtlCol="0" anchor="ctr"/>
            <a:lstStyle/>
            <a:p>
              <a:pPr algn="ctr">
                <a:lnSpc>
                  <a:spcPts val="1158"/>
                </a:lnSpc>
              </a:pPr>
              <a:endParaRPr sz="1200"/>
            </a:p>
          </p:txBody>
        </p:sp>
      </p:grpSp>
      <p:sp>
        <p:nvSpPr>
          <p:cNvPr id="6" name="Freeform 6"/>
          <p:cNvSpPr/>
          <p:nvPr/>
        </p:nvSpPr>
        <p:spPr>
          <a:xfrm flipH="1">
            <a:off x="8872512" y="0"/>
            <a:ext cx="6858000" cy="6858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685800" y="-486486"/>
            <a:ext cx="3363560" cy="5014619"/>
            <a:chOff x="0" y="0"/>
            <a:chExt cx="1328814" cy="1981084"/>
          </a:xfrm>
        </p:grpSpPr>
        <p:sp>
          <p:nvSpPr>
            <p:cNvPr id="8" name="Freeform 8"/>
            <p:cNvSpPr/>
            <p:nvPr/>
          </p:nvSpPr>
          <p:spPr>
            <a:xfrm>
              <a:off x="0" y="0"/>
              <a:ext cx="1328814" cy="1981084"/>
            </a:xfrm>
            <a:custGeom>
              <a:avLst/>
              <a:gdLst/>
              <a:ahLst/>
              <a:cxnLst/>
              <a:rect l="l" t="t" r="r" b="b"/>
              <a:pathLst>
                <a:path w="1328814" h="1981084">
                  <a:moveTo>
                    <a:pt x="42965" y="0"/>
                  </a:moveTo>
                  <a:lnTo>
                    <a:pt x="1285849" y="0"/>
                  </a:lnTo>
                  <a:cubicBezTo>
                    <a:pt x="1309578" y="0"/>
                    <a:pt x="1328814" y="19236"/>
                    <a:pt x="1328814" y="42965"/>
                  </a:cubicBezTo>
                  <a:lnTo>
                    <a:pt x="1328814" y="1938119"/>
                  </a:lnTo>
                  <a:cubicBezTo>
                    <a:pt x="1328814" y="1961848"/>
                    <a:pt x="1309578" y="1981084"/>
                    <a:pt x="1285849" y="1981084"/>
                  </a:cubicBezTo>
                  <a:lnTo>
                    <a:pt x="42965" y="1981084"/>
                  </a:lnTo>
                  <a:cubicBezTo>
                    <a:pt x="19236" y="1981084"/>
                    <a:pt x="0" y="1961848"/>
                    <a:pt x="0" y="1938119"/>
                  </a:cubicBezTo>
                  <a:lnTo>
                    <a:pt x="0" y="42965"/>
                  </a:lnTo>
                  <a:cubicBezTo>
                    <a:pt x="0" y="19236"/>
                    <a:pt x="19236" y="0"/>
                    <a:pt x="42965" y="0"/>
                  </a:cubicBezTo>
                  <a:close/>
                </a:path>
              </a:pathLst>
            </a:custGeom>
            <a:gradFill rotWithShape="1">
              <a:gsLst>
                <a:gs pos="0">
                  <a:srgbClr val="11DAB7">
                    <a:alpha val="100000"/>
                  </a:srgbClr>
                </a:gs>
                <a:gs pos="100000">
                  <a:srgbClr val="087C8D">
                    <a:alpha val="100000"/>
                  </a:srgbClr>
                </a:gs>
              </a:gsLst>
              <a:lin ang="5400000"/>
            </a:gradFill>
          </p:spPr>
        </p:sp>
        <p:sp>
          <p:nvSpPr>
            <p:cNvPr id="9" name="TextBox 9"/>
            <p:cNvSpPr txBox="1"/>
            <p:nvPr/>
          </p:nvSpPr>
          <p:spPr>
            <a:xfrm>
              <a:off x="0" y="76200"/>
              <a:ext cx="1328814" cy="1904884"/>
            </a:xfrm>
            <a:prstGeom prst="rect">
              <a:avLst/>
            </a:prstGeom>
          </p:spPr>
          <p:txBody>
            <a:bodyPr lIns="33867" tIns="33867" rIns="33867" bIns="33867" rtlCol="0" anchor="ctr"/>
            <a:lstStyle/>
            <a:p>
              <a:pPr algn="ctr">
                <a:lnSpc>
                  <a:spcPts val="1158"/>
                </a:lnSpc>
              </a:pPr>
              <a:endParaRPr sz="1200"/>
            </a:p>
          </p:txBody>
        </p:sp>
      </p:grpSp>
      <p:grpSp>
        <p:nvGrpSpPr>
          <p:cNvPr id="10" name="Group 10"/>
          <p:cNvGrpSpPr/>
          <p:nvPr/>
        </p:nvGrpSpPr>
        <p:grpSpPr>
          <a:xfrm>
            <a:off x="1421163" y="2601266"/>
            <a:ext cx="3167167" cy="4439281"/>
            <a:chOff x="0" y="0"/>
            <a:chExt cx="986187" cy="1382295"/>
          </a:xfrm>
        </p:grpSpPr>
        <p:sp>
          <p:nvSpPr>
            <p:cNvPr id="11" name="Freeform 11"/>
            <p:cNvSpPr/>
            <p:nvPr/>
          </p:nvSpPr>
          <p:spPr>
            <a:xfrm>
              <a:off x="0" y="0"/>
              <a:ext cx="986187" cy="1382295"/>
            </a:xfrm>
            <a:custGeom>
              <a:avLst/>
              <a:gdLst/>
              <a:ahLst/>
              <a:cxnLst/>
              <a:rect l="l" t="t" r="r" b="b"/>
              <a:pathLst>
                <a:path w="986187" h="1382295">
                  <a:moveTo>
                    <a:pt x="37481" y="0"/>
                  </a:moveTo>
                  <a:lnTo>
                    <a:pt x="948706" y="0"/>
                  </a:lnTo>
                  <a:cubicBezTo>
                    <a:pt x="958646" y="0"/>
                    <a:pt x="968180" y="3949"/>
                    <a:pt x="975209" y="10978"/>
                  </a:cubicBezTo>
                  <a:cubicBezTo>
                    <a:pt x="982238" y="18007"/>
                    <a:pt x="986187" y="27541"/>
                    <a:pt x="986187" y="37481"/>
                  </a:cubicBezTo>
                  <a:lnTo>
                    <a:pt x="986187" y="1344814"/>
                  </a:lnTo>
                  <a:cubicBezTo>
                    <a:pt x="986187" y="1354755"/>
                    <a:pt x="982238" y="1364288"/>
                    <a:pt x="975209" y="1371317"/>
                  </a:cubicBezTo>
                  <a:cubicBezTo>
                    <a:pt x="968180" y="1378346"/>
                    <a:pt x="958646" y="1382295"/>
                    <a:pt x="948706" y="1382295"/>
                  </a:cubicBezTo>
                  <a:lnTo>
                    <a:pt x="37481" y="1382295"/>
                  </a:lnTo>
                  <a:cubicBezTo>
                    <a:pt x="16781" y="1382295"/>
                    <a:pt x="0" y="1365514"/>
                    <a:pt x="0" y="1344814"/>
                  </a:cubicBezTo>
                  <a:lnTo>
                    <a:pt x="0" y="37481"/>
                  </a:lnTo>
                  <a:cubicBezTo>
                    <a:pt x="0" y="27541"/>
                    <a:pt x="3949" y="18007"/>
                    <a:pt x="10978" y="10978"/>
                  </a:cubicBezTo>
                  <a:cubicBezTo>
                    <a:pt x="18007" y="3949"/>
                    <a:pt x="27541" y="0"/>
                    <a:pt x="37481" y="0"/>
                  </a:cubicBezTo>
                  <a:close/>
                </a:path>
              </a:pathLst>
            </a:custGeom>
            <a:blipFill>
              <a:blip r:embed="rId5"/>
              <a:stretch>
                <a:fillRect l="-74205" r="-36174"/>
              </a:stretch>
            </a:blipFill>
            <a:ln w="95250" cap="rnd">
              <a:solidFill>
                <a:srgbClr val="00DFB6"/>
              </a:solidFill>
              <a:prstDash val="solid"/>
              <a:round/>
            </a:ln>
          </p:spPr>
        </p:sp>
      </p:grpSp>
      <p:sp>
        <p:nvSpPr>
          <p:cNvPr id="12" name="Freeform 12"/>
          <p:cNvSpPr/>
          <p:nvPr/>
        </p:nvSpPr>
        <p:spPr>
          <a:xfrm>
            <a:off x="4680403" y="1795077"/>
            <a:ext cx="419491" cy="419491"/>
          </a:xfrm>
          <a:custGeom>
            <a:avLst/>
            <a:gdLst/>
            <a:ahLst/>
            <a:cxnLst/>
            <a:rect l="l" t="t" r="r" b="b"/>
            <a:pathLst>
              <a:path w="629237" h="629237">
                <a:moveTo>
                  <a:pt x="0" y="0"/>
                </a:moveTo>
                <a:lnTo>
                  <a:pt x="629236" y="0"/>
                </a:lnTo>
                <a:lnTo>
                  <a:pt x="629236" y="629237"/>
                </a:lnTo>
                <a:lnTo>
                  <a:pt x="0" y="6292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1230552" y="2004821"/>
            <a:ext cx="551296" cy="551296"/>
          </a:xfrm>
          <a:custGeom>
            <a:avLst/>
            <a:gdLst/>
            <a:ahLst/>
            <a:cxnLst/>
            <a:rect l="l" t="t" r="r" b="b"/>
            <a:pathLst>
              <a:path w="826944" h="826944">
                <a:moveTo>
                  <a:pt x="0" y="0"/>
                </a:moveTo>
                <a:lnTo>
                  <a:pt x="826944" y="0"/>
                </a:lnTo>
                <a:lnTo>
                  <a:pt x="826944" y="826944"/>
                </a:lnTo>
                <a:lnTo>
                  <a:pt x="0" y="8269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a:off x="9217315" y="266309"/>
            <a:ext cx="419491" cy="419491"/>
          </a:xfrm>
          <a:custGeom>
            <a:avLst/>
            <a:gdLst/>
            <a:ahLst/>
            <a:cxnLst/>
            <a:rect l="l" t="t" r="r" b="b"/>
            <a:pathLst>
              <a:path w="629237" h="629237">
                <a:moveTo>
                  <a:pt x="0" y="0"/>
                </a:moveTo>
                <a:lnTo>
                  <a:pt x="629236" y="0"/>
                </a:lnTo>
                <a:lnTo>
                  <a:pt x="629236" y="629237"/>
                </a:lnTo>
                <a:lnTo>
                  <a:pt x="0" y="6292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5" name="Group 15"/>
          <p:cNvGrpSpPr/>
          <p:nvPr/>
        </p:nvGrpSpPr>
        <p:grpSpPr>
          <a:xfrm>
            <a:off x="-143075" y="2912105"/>
            <a:ext cx="1981585" cy="569868"/>
            <a:chOff x="0" y="0"/>
            <a:chExt cx="782848" cy="225133"/>
          </a:xfrm>
        </p:grpSpPr>
        <p:sp>
          <p:nvSpPr>
            <p:cNvPr id="16" name="Freeform 16"/>
            <p:cNvSpPr/>
            <p:nvPr/>
          </p:nvSpPr>
          <p:spPr>
            <a:xfrm>
              <a:off x="0" y="0"/>
              <a:ext cx="782848" cy="225133"/>
            </a:xfrm>
            <a:custGeom>
              <a:avLst/>
              <a:gdLst/>
              <a:ahLst/>
              <a:cxnLst/>
              <a:rect l="l" t="t" r="r" b="b"/>
              <a:pathLst>
                <a:path w="782848" h="225133">
                  <a:moveTo>
                    <a:pt x="39069" y="0"/>
                  </a:moveTo>
                  <a:lnTo>
                    <a:pt x="743779" y="0"/>
                  </a:lnTo>
                  <a:cubicBezTo>
                    <a:pt x="765356" y="0"/>
                    <a:pt x="782848" y="17492"/>
                    <a:pt x="782848" y="39069"/>
                  </a:cubicBezTo>
                  <a:lnTo>
                    <a:pt x="782848" y="186064"/>
                  </a:lnTo>
                  <a:cubicBezTo>
                    <a:pt x="782848" y="207641"/>
                    <a:pt x="765356" y="225133"/>
                    <a:pt x="743779" y="225133"/>
                  </a:cubicBezTo>
                  <a:lnTo>
                    <a:pt x="39069" y="225133"/>
                  </a:lnTo>
                  <a:cubicBezTo>
                    <a:pt x="17492" y="225133"/>
                    <a:pt x="0" y="207641"/>
                    <a:pt x="0" y="186064"/>
                  </a:cubicBezTo>
                  <a:lnTo>
                    <a:pt x="0" y="39069"/>
                  </a:lnTo>
                  <a:cubicBezTo>
                    <a:pt x="0" y="17492"/>
                    <a:pt x="17492" y="0"/>
                    <a:pt x="39069" y="0"/>
                  </a:cubicBezTo>
                  <a:close/>
                </a:path>
              </a:pathLst>
            </a:custGeom>
            <a:solidFill>
              <a:srgbClr val="1A2768"/>
            </a:solidFill>
          </p:spPr>
        </p:sp>
        <p:sp>
          <p:nvSpPr>
            <p:cNvPr id="17" name="TextBox 17"/>
            <p:cNvSpPr txBox="1"/>
            <p:nvPr/>
          </p:nvSpPr>
          <p:spPr>
            <a:xfrm>
              <a:off x="0" y="76200"/>
              <a:ext cx="782848" cy="148933"/>
            </a:xfrm>
            <a:prstGeom prst="rect">
              <a:avLst/>
            </a:prstGeom>
          </p:spPr>
          <p:txBody>
            <a:bodyPr lIns="33867" tIns="33867" rIns="33867" bIns="33867" rtlCol="0" anchor="ctr"/>
            <a:lstStyle/>
            <a:p>
              <a:pPr algn="ctr">
                <a:lnSpc>
                  <a:spcPts val="1158"/>
                </a:lnSpc>
              </a:pPr>
              <a:endParaRPr sz="1200"/>
            </a:p>
          </p:txBody>
        </p:sp>
      </p:grpSp>
      <p:grpSp>
        <p:nvGrpSpPr>
          <p:cNvPr id="18" name="Group 18"/>
          <p:cNvGrpSpPr/>
          <p:nvPr/>
        </p:nvGrpSpPr>
        <p:grpSpPr>
          <a:xfrm>
            <a:off x="10866463" y="5836400"/>
            <a:ext cx="915385" cy="335800"/>
            <a:chOff x="0" y="0"/>
            <a:chExt cx="361634" cy="132662"/>
          </a:xfrm>
        </p:grpSpPr>
        <p:sp>
          <p:nvSpPr>
            <p:cNvPr id="19" name="Freeform 19"/>
            <p:cNvSpPr/>
            <p:nvPr/>
          </p:nvSpPr>
          <p:spPr>
            <a:xfrm>
              <a:off x="0" y="0"/>
              <a:ext cx="361634" cy="132662"/>
            </a:xfrm>
            <a:custGeom>
              <a:avLst/>
              <a:gdLst/>
              <a:ahLst/>
              <a:cxnLst/>
              <a:rect l="l" t="t" r="r" b="b"/>
              <a:pathLst>
                <a:path w="361634" h="132662">
                  <a:moveTo>
                    <a:pt x="66331" y="0"/>
                  </a:moveTo>
                  <a:lnTo>
                    <a:pt x="295303" y="0"/>
                  </a:lnTo>
                  <a:cubicBezTo>
                    <a:pt x="312895" y="0"/>
                    <a:pt x="329766" y="6988"/>
                    <a:pt x="342206" y="19428"/>
                  </a:cubicBezTo>
                  <a:cubicBezTo>
                    <a:pt x="354645" y="31867"/>
                    <a:pt x="361634" y="48739"/>
                    <a:pt x="361634" y="66331"/>
                  </a:cubicBezTo>
                  <a:lnTo>
                    <a:pt x="361634" y="66331"/>
                  </a:lnTo>
                  <a:cubicBezTo>
                    <a:pt x="361634" y="102964"/>
                    <a:pt x="331936" y="132662"/>
                    <a:pt x="295303" y="132662"/>
                  </a:cubicBezTo>
                  <a:lnTo>
                    <a:pt x="66331" y="132662"/>
                  </a:lnTo>
                  <a:cubicBezTo>
                    <a:pt x="48739" y="132662"/>
                    <a:pt x="31867" y="125673"/>
                    <a:pt x="19428" y="113234"/>
                  </a:cubicBezTo>
                  <a:cubicBezTo>
                    <a:pt x="6988" y="100794"/>
                    <a:pt x="0" y="83923"/>
                    <a:pt x="0" y="66331"/>
                  </a:cubicBezTo>
                  <a:lnTo>
                    <a:pt x="0" y="66331"/>
                  </a:lnTo>
                  <a:cubicBezTo>
                    <a:pt x="0" y="48739"/>
                    <a:pt x="6988" y="31867"/>
                    <a:pt x="19428" y="19428"/>
                  </a:cubicBezTo>
                  <a:cubicBezTo>
                    <a:pt x="31867" y="6988"/>
                    <a:pt x="48739" y="0"/>
                    <a:pt x="66331" y="0"/>
                  </a:cubicBezTo>
                  <a:close/>
                </a:path>
              </a:pathLst>
            </a:custGeom>
            <a:solidFill>
              <a:srgbClr val="FE6B00"/>
            </a:solidFill>
          </p:spPr>
        </p:sp>
        <p:sp>
          <p:nvSpPr>
            <p:cNvPr id="20" name="TextBox 20"/>
            <p:cNvSpPr txBox="1"/>
            <p:nvPr/>
          </p:nvSpPr>
          <p:spPr>
            <a:xfrm>
              <a:off x="0" y="76200"/>
              <a:ext cx="361634" cy="56462"/>
            </a:xfrm>
            <a:prstGeom prst="rect">
              <a:avLst/>
            </a:prstGeom>
          </p:spPr>
          <p:txBody>
            <a:bodyPr lIns="33867" tIns="33867" rIns="33867" bIns="33867" rtlCol="0" anchor="ctr"/>
            <a:lstStyle/>
            <a:p>
              <a:pPr algn="ctr">
                <a:lnSpc>
                  <a:spcPts val="1158"/>
                </a:lnSpc>
              </a:pPr>
              <a:endParaRPr sz="1200"/>
            </a:p>
          </p:txBody>
        </p:sp>
      </p:grpSp>
      <p:sp>
        <p:nvSpPr>
          <p:cNvPr id="22" name="TextBox 22"/>
          <p:cNvSpPr txBox="1"/>
          <p:nvPr/>
        </p:nvSpPr>
        <p:spPr>
          <a:xfrm>
            <a:off x="5704314" y="1003924"/>
            <a:ext cx="5334000" cy="591252"/>
          </a:xfrm>
          <a:prstGeom prst="rect">
            <a:avLst/>
          </a:prstGeom>
        </p:spPr>
        <p:txBody>
          <a:bodyPr lIns="0" tIns="0" rIns="0" bIns="0" rtlCol="0" anchor="t">
            <a:spAutoFit/>
          </a:bodyPr>
          <a:lstStyle/>
          <a:p>
            <a:pPr>
              <a:lnSpc>
                <a:spcPts val="4431"/>
              </a:lnSpc>
            </a:pPr>
            <a:r>
              <a:rPr lang="en-US" sz="5755" b="1" dirty="0">
                <a:solidFill>
                  <a:srgbClr val="365B6D"/>
                </a:solidFill>
                <a:latin typeface="Signika Bold"/>
                <a:ea typeface="Signika Bold"/>
                <a:cs typeface="Signika Bold"/>
                <a:sym typeface="Signika Bold"/>
              </a:rPr>
              <a:t>Motivation</a:t>
            </a:r>
          </a:p>
        </p:txBody>
      </p:sp>
      <p:sp>
        <p:nvSpPr>
          <p:cNvPr id="23" name="TextBox 23"/>
          <p:cNvSpPr txBox="1"/>
          <p:nvPr/>
        </p:nvSpPr>
        <p:spPr>
          <a:xfrm>
            <a:off x="5491058" y="2691410"/>
            <a:ext cx="5469806" cy="3068404"/>
          </a:xfrm>
          <a:prstGeom prst="rect">
            <a:avLst/>
          </a:prstGeom>
        </p:spPr>
        <p:txBody>
          <a:bodyPr lIns="0" tIns="0" rIns="0" bIns="0" rtlCol="0" anchor="t">
            <a:spAutoFit/>
          </a:bodyPr>
          <a:lstStyle/>
          <a:p>
            <a:pPr algn="just">
              <a:lnSpc>
                <a:spcPct val="170000"/>
              </a:lnSpc>
            </a:pPr>
            <a:r>
              <a:rPr lang="en-US" sz="2000" b="1" dirty="0"/>
              <a:t>The motivation is to replace the inefficient, error-prone manual system at HealthCare Plus Hospital with a centralized online solution that ensure accuracy, consistency and efficient management of hospital resource.</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96940" y="0"/>
            <a:ext cx="4841848" cy="6858000"/>
            <a:chOff x="0" y="0"/>
            <a:chExt cx="2096558" cy="2709333"/>
          </a:xfrm>
        </p:grpSpPr>
        <p:sp>
          <p:nvSpPr>
            <p:cNvPr id="3" name="Freeform 3"/>
            <p:cNvSpPr/>
            <p:nvPr/>
          </p:nvSpPr>
          <p:spPr>
            <a:xfrm>
              <a:off x="0" y="0"/>
              <a:ext cx="2096558" cy="2709333"/>
            </a:xfrm>
            <a:custGeom>
              <a:avLst/>
              <a:gdLst/>
              <a:ahLst/>
              <a:cxnLst/>
              <a:rect l="l" t="t" r="r" b="b"/>
              <a:pathLst>
                <a:path w="2096558" h="2709333">
                  <a:moveTo>
                    <a:pt x="27232" y="0"/>
                  </a:moveTo>
                  <a:lnTo>
                    <a:pt x="2069326" y="0"/>
                  </a:lnTo>
                  <a:cubicBezTo>
                    <a:pt x="2084366" y="0"/>
                    <a:pt x="2096558" y="12192"/>
                    <a:pt x="2096558" y="27232"/>
                  </a:cubicBezTo>
                  <a:lnTo>
                    <a:pt x="2096558" y="2682102"/>
                  </a:lnTo>
                  <a:cubicBezTo>
                    <a:pt x="2096558" y="2689324"/>
                    <a:pt x="2093689" y="2696250"/>
                    <a:pt x="2088582" y="2701357"/>
                  </a:cubicBezTo>
                  <a:cubicBezTo>
                    <a:pt x="2083475" y="2706464"/>
                    <a:pt x="2076548" y="2709333"/>
                    <a:pt x="2069326" y="2709333"/>
                  </a:cubicBezTo>
                  <a:lnTo>
                    <a:pt x="27232" y="2709333"/>
                  </a:lnTo>
                  <a:cubicBezTo>
                    <a:pt x="12192" y="2709333"/>
                    <a:pt x="0" y="2697141"/>
                    <a:pt x="0" y="2682102"/>
                  </a:cubicBezTo>
                  <a:lnTo>
                    <a:pt x="0" y="27232"/>
                  </a:lnTo>
                  <a:cubicBezTo>
                    <a:pt x="0" y="12192"/>
                    <a:pt x="12192" y="0"/>
                    <a:pt x="27232" y="0"/>
                  </a:cubicBezTo>
                  <a:close/>
                </a:path>
              </a:pathLst>
            </a:custGeom>
            <a:gradFill rotWithShape="1">
              <a:gsLst>
                <a:gs pos="0">
                  <a:srgbClr val="11DAB7">
                    <a:alpha val="100000"/>
                  </a:srgbClr>
                </a:gs>
                <a:gs pos="100000">
                  <a:srgbClr val="087C8D">
                    <a:alpha val="100000"/>
                  </a:srgbClr>
                </a:gs>
              </a:gsLst>
              <a:lin ang="0"/>
            </a:gradFill>
          </p:spPr>
        </p:sp>
        <p:sp>
          <p:nvSpPr>
            <p:cNvPr id="4" name="TextBox 4"/>
            <p:cNvSpPr txBox="1"/>
            <p:nvPr/>
          </p:nvSpPr>
          <p:spPr>
            <a:xfrm>
              <a:off x="0" y="76200"/>
              <a:ext cx="2096558" cy="2633133"/>
            </a:xfrm>
            <a:prstGeom prst="rect">
              <a:avLst/>
            </a:prstGeom>
          </p:spPr>
          <p:txBody>
            <a:bodyPr lIns="33867" tIns="33867" rIns="33867" bIns="33867" rtlCol="0" anchor="ctr"/>
            <a:lstStyle/>
            <a:p>
              <a:pPr algn="ctr">
                <a:lnSpc>
                  <a:spcPts val="1158"/>
                </a:lnSpc>
              </a:pPr>
              <a:endParaRPr sz="1200"/>
            </a:p>
          </p:txBody>
        </p:sp>
      </p:grpSp>
      <p:sp>
        <p:nvSpPr>
          <p:cNvPr id="5" name="Freeform 5"/>
          <p:cNvSpPr/>
          <p:nvPr/>
        </p:nvSpPr>
        <p:spPr>
          <a:xfrm>
            <a:off x="0" y="6320058"/>
            <a:ext cx="491029" cy="491029"/>
          </a:xfrm>
          <a:custGeom>
            <a:avLst/>
            <a:gdLst/>
            <a:ahLst/>
            <a:cxnLst/>
            <a:rect l="l" t="t" r="r" b="b"/>
            <a:pathLst>
              <a:path w="736543" h="736543">
                <a:moveTo>
                  <a:pt x="0" y="0"/>
                </a:moveTo>
                <a:lnTo>
                  <a:pt x="736543" y="0"/>
                </a:lnTo>
                <a:lnTo>
                  <a:pt x="736543" y="736543"/>
                </a:lnTo>
                <a:lnTo>
                  <a:pt x="0" y="7365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6227894" y="568292"/>
            <a:ext cx="469953" cy="469953"/>
          </a:xfrm>
          <a:custGeom>
            <a:avLst/>
            <a:gdLst/>
            <a:ahLst/>
            <a:cxnLst/>
            <a:rect l="l" t="t" r="r" b="b"/>
            <a:pathLst>
              <a:path w="704930" h="704930">
                <a:moveTo>
                  <a:pt x="0" y="0"/>
                </a:moveTo>
                <a:lnTo>
                  <a:pt x="704929" y="0"/>
                </a:lnTo>
                <a:lnTo>
                  <a:pt x="704929" y="704930"/>
                </a:lnTo>
                <a:lnTo>
                  <a:pt x="0" y="704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6677959" y="1340121"/>
            <a:ext cx="4613153" cy="2139756"/>
            <a:chOff x="0" y="0"/>
            <a:chExt cx="1822480" cy="845336"/>
          </a:xfrm>
        </p:grpSpPr>
        <p:sp>
          <p:nvSpPr>
            <p:cNvPr id="8" name="Freeform 8"/>
            <p:cNvSpPr/>
            <p:nvPr/>
          </p:nvSpPr>
          <p:spPr>
            <a:xfrm>
              <a:off x="0" y="0"/>
              <a:ext cx="1822480" cy="845336"/>
            </a:xfrm>
            <a:custGeom>
              <a:avLst/>
              <a:gdLst/>
              <a:ahLst/>
              <a:cxnLst/>
              <a:rect l="l" t="t" r="r" b="b"/>
              <a:pathLst>
                <a:path w="1822480" h="845336">
                  <a:moveTo>
                    <a:pt x="41396" y="0"/>
                  </a:moveTo>
                  <a:lnTo>
                    <a:pt x="1781084" y="0"/>
                  </a:lnTo>
                  <a:cubicBezTo>
                    <a:pt x="1803947" y="0"/>
                    <a:pt x="1822480" y="18534"/>
                    <a:pt x="1822480" y="41396"/>
                  </a:cubicBezTo>
                  <a:lnTo>
                    <a:pt x="1822480" y="803939"/>
                  </a:lnTo>
                  <a:cubicBezTo>
                    <a:pt x="1822480" y="826802"/>
                    <a:pt x="1803947" y="845336"/>
                    <a:pt x="1781084" y="845336"/>
                  </a:cubicBezTo>
                  <a:lnTo>
                    <a:pt x="41396" y="845336"/>
                  </a:lnTo>
                  <a:cubicBezTo>
                    <a:pt x="18534" y="845336"/>
                    <a:pt x="0" y="826802"/>
                    <a:pt x="0" y="803939"/>
                  </a:cubicBezTo>
                  <a:lnTo>
                    <a:pt x="0" y="41396"/>
                  </a:lnTo>
                  <a:cubicBezTo>
                    <a:pt x="0" y="18534"/>
                    <a:pt x="18534" y="0"/>
                    <a:pt x="41396" y="0"/>
                  </a:cubicBezTo>
                  <a:close/>
                </a:path>
              </a:pathLst>
            </a:custGeom>
            <a:solidFill>
              <a:srgbClr val="FFFFFF">
                <a:alpha val="86667"/>
              </a:srgbClr>
            </a:solidFill>
          </p:spPr>
        </p:sp>
        <p:sp>
          <p:nvSpPr>
            <p:cNvPr id="9" name="TextBox 9"/>
            <p:cNvSpPr txBox="1"/>
            <p:nvPr/>
          </p:nvSpPr>
          <p:spPr>
            <a:xfrm>
              <a:off x="0" y="76200"/>
              <a:ext cx="1822480" cy="769136"/>
            </a:xfrm>
            <a:prstGeom prst="rect">
              <a:avLst/>
            </a:prstGeom>
          </p:spPr>
          <p:txBody>
            <a:bodyPr lIns="33867" tIns="33867" rIns="33867" bIns="33867" rtlCol="0" anchor="ctr"/>
            <a:lstStyle/>
            <a:p>
              <a:pPr algn="ctr">
                <a:lnSpc>
                  <a:spcPts val="1158"/>
                </a:lnSpc>
              </a:pPr>
              <a:endParaRPr sz="1200"/>
            </a:p>
          </p:txBody>
        </p:sp>
      </p:grpSp>
      <p:grpSp>
        <p:nvGrpSpPr>
          <p:cNvPr id="13" name="Group 13"/>
          <p:cNvGrpSpPr/>
          <p:nvPr/>
        </p:nvGrpSpPr>
        <p:grpSpPr>
          <a:xfrm>
            <a:off x="6677959" y="3759774"/>
            <a:ext cx="4613153" cy="2139756"/>
            <a:chOff x="0" y="0"/>
            <a:chExt cx="1822480" cy="845336"/>
          </a:xfrm>
        </p:grpSpPr>
        <p:sp>
          <p:nvSpPr>
            <p:cNvPr id="14" name="Freeform 14"/>
            <p:cNvSpPr/>
            <p:nvPr/>
          </p:nvSpPr>
          <p:spPr>
            <a:xfrm>
              <a:off x="0" y="0"/>
              <a:ext cx="1822480" cy="845336"/>
            </a:xfrm>
            <a:custGeom>
              <a:avLst/>
              <a:gdLst/>
              <a:ahLst/>
              <a:cxnLst/>
              <a:rect l="l" t="t" r="r" b="b"/>
              <a:pathLst>
                <a:path w="1822480" h="845336">
                  <a:moveTo>
                    <a:pt x="41396" y="0"/>
                  </a:moveTo>
                  <a:lnTo>
                    <a:pt x="1781084" y="0"/>
                  </a:lnTo>
                  <a:cubicBezTo>
                    <a:pt x="1803947" y="0"/>
                    <a:pt x="1822480" y="18534"/>
                    <a:pt x="1822480" y="41396"/>
                  </a:cubicBezTo>
                  <a:lnTo>
                    <a:pt x="1822480" y="803939"/>
                  </a:lnTo>
                  <a:cubicBezTo>
                    <a:pt x="1822480" y="826802"/>
                    <a:pt x="1803947" y="845336"/>
                    <a:pt x="1781084" y="845336"/>
                  </a:cubicBezTo>
                  <a:lnTo>
                    <a:pt x="41396" y="845336"/>
                  </a:lnTo>
                  <a:cubicBezTo>
                    <a:pt x="18534" y="845336"/>
                    <a:pt x="0" y="826802"/>
                    <a:pt x="0" y="803939"/>
                  </a:cubicBezTo>
                  <a:lnTo>
                    <a:pt x="0" y="41396"/>
                  </a:lnTo>
                  <a:cubicBezTo>
                    <a:pt x="0" y="18534"/>
                    <a:pt x="18534" y="0"/>
                    <a:pt x="41396" y="0"/>
                  </a:cubicBezTo>
                  <a:close/>
                </a:path>
              </a:pathLst>
            </a:custGeom>
            <a:solidFill>
              <a:srgbClr val="FFFFFF">
                <a:alpha val="86667"/>
              </a:srgbClr>
            </a:solidFill>
          </p:spPr>
        </p:sp>
        <p:sp>
          <p:nvSpPr>
            <p:cNvPr id="15" name="TextBox 15"/>
            <p:cNvSpPr txBox="1"/>
            <p:nvPr/>
          </p:nvSpPr>
          <p:spPr>
            <a:xfrm>
              <a:off x="0" y="76200"/>
              <a:ext cx="1822480" cy="769136"/>
            </a:xfrm>
            <a:prstGeom prst="rect">
              <a:avLst/>
            </a:prstGeom>
          </p:spPr>
          <p:txBody>
            <a:bodyPr lIns="33867" tIns="33867" rIns="33867" bIns="33867" rtlCol="0" anchor="ctr"/>
            <a:lstStyle/>
            <a:p>
              <a:pPr algn="ctr">
                <a:lnSpc>
                  <a:spcPts val="1158"/>
                </a:lnSpc>
              </a:pPr>
              <a:endParaRPr sz="1200"/>
            </a:p>
          </p:txBody>
        </p:sp>
      </p:grpSp>
      <p:grpSp>
        <p:nvGrpSpPr>
          <p:cNvPr id="16" name="Group 16"/>
          <p:cNvGrpSpPr/>
          <p:nvPr/>
        </p:nvGrpSpPr>
        <p:grpSpPr>
          <a:xfrm>
            <a:off x="7086473" y="3952655"/>
            <a:ext cx="4026801" cy="1803293"/>
            <a:chOff x="0" y="0"/>
            <a:chExt cx="2352812" cy="1003163"/>
          </a:xfrm>
        </p:grpSpPr>
        <p:sp>
          <p:nvSpPr>
            <p:cNvPr id="17" name="Freeform 17"/>
            <p:cNvSpPr/>
            <p:nvPr/>
          </p:nvSpPr>
          <p:spPr>
            <a:xfrm flipH="1">
              <a:off x="0" y="0"/>
              <a:ext cx="2352812" cy="1003163"/>
            </a:xfrm>
            <a:custGeom>
              <a:avLst/>
              <a:gdLst/>
              <a:ahLst/>
              <a:cxnLst/>
              <a:rect l="l" t="t" r="r" b="b"/>
              <a:pathLst>
                <a:path w="2352812" h="1003163">
                  <a:moveTo>
                    <a:pt x="2334507" y="0"/>
                  </a:moveTo>
                  <a:lnTo>
                    <a:pt x="18305" y="0"/>
                  </a:lnTo>
                  <a:cubicBezTo>
                    <a:pt x="8195" y="0"/>
                    <a:pt x="0" y="8195"/>
                    <a:pt x="0" y="18305"/>
                  </a:cubicBezTo>
                  <a:lnTo>
                    <a:pt x="0" y="984858"/>
                  </a:lnTo>
                  <a:cubicBezTo>
                    <a:pt x="0" y="989712"/>
                    <a:pt x="1929" y="994368"/>
                    <a:pt x="5361" y="997801"/>
                  </a:cubicBezTo>
                  <a:cubicBezTo>
                    <a:pt x="8794" y="1001234"/>
                    <a:pt x="13450" y="1003163"/>
                    <a:pt x="18305" y="1003163"/>
                  </a:cubicBezTo>
                  <a:lnTo>
                    <a:pt x="2334507" y="1003163"/>
                  </a:lnTo>
                  <a:cubicBezTo>
                    <a:pt x="2339362" y="1003163"/>
                    <a:pt x="2344018" y="1001234"/>
                    <a:pt x="2347451" y="997801"/>
                  </a:cubicBezTo>
                  <a:cubicBezTo>
                    <a:pt x="2350883" y="994368"/>
                    <a:pt x="2352812" y="989712"/>
                    <a:pt x="2352812" y="984858"/>
                  </a:cubicBezTo>
                  <a:lnTo>
                    <a:pt x="2352812" y="18305"/>
                  </a:lnTo>
                  <a:cubicBezTo>
                    <a:pt x="2352812" y="13450"/>
                    <a:pt x="2350883" y="8794"/>
                    <a:pt x="2347451" y="5361"/>
                  </a:cubicBezTo>
                  <a:cubicBezTo>
                    <a:pt x="2344018" y="1929"/>
                    <a:pt x="2339362" y="0"/>
                    <a:pt x="2334507" y="0"/>
                  </a:cubicBezTo>
                  <a:close/>
                </a:path>
              </a:pathLst>
            </a:custGeom>
            <a:blipFill>
              <a:blip r:embed="rId4"/>
              <a:stretch>
                <a:fillRect t="-28130" b="-28130"/>
              </a:stretch>
            </a:blipFill>
          </p:spPr>
        </p:sp>
      </p:grpSp>
      <p:grpSp>
        <p:nvGrpSpPr>
          <p:cNvPr id="18" name="Group 18"/>
          <p:cNvGrpSpPr/>
          <p:nvPr/>
        </p:nvGrpSpPr>
        <p:grpSpPr>
          <a:xfrm>
            <a:off x="7086473" y="1492274"/>
            <a:ext cx="4026801" cy="1803293"/>
            <a:chOff x="0" y="0"/>
            <a:chExt cx="2352812" cy="1003163"/>
          </a:xfrm>
        </p:grpSpPr>
        <p:sp>
          <p:nvSpPr>
            <p:cNvPr id="19" name="Freeform 19"/>
            <p:cNvSpPr/>
            <p:nvPr/>
          </p:nvSpPr>
          <p:spPr>
            <a:xfrm>
              <a:off x="0" y="0"/>
              <a:ext cx="2352812" cy="1003163"/>
            </a:xfrm>
            <a:custGeom>
              <a:avLst/>
              <a:gdLst/>
              <a:ahLst/>
              <a:cxnLst/>
              <a:rect l="l" t="t" r="r" b="b"/>
              <a:pathLst>
                <a:path w="2352812" h="1003163">
                  <a:moveTo>
                    <a:pt x="18305" y="0"/>
                  </a:moveTo>
                  <a:lnTo>
                    <a:pt x="2334507" y="0"/>
                  </a:lnTo>
                  <a:cubicBezTo>
                    <a:pt x="2344617" y="0"/>
                    <a:pt x="2352812" y="8195"/>
                    <a:pt x="2352812" y="18305"/>
                  </a:cubicBezTo>
                  <a:lnTo>
                    <a:pt x="2352812" y="984858"/>
                  </a:lnTo>
                  <a:cubicBezTo>
                    <a:pt x="2352812" y="989712"/>
                    <a:pt x="2350883" y="994368"/>
                    <a:pt x="2347451" y="997801"/>
                  </a:cubicBezTo>
                  <a:cubicBezTo>
                    <a:pt x="2344018" y="1001234"/>
                    <a:pt x="2339362" y="1003163"/>
                    <a:pt x="2334507" y="1003163"/>
                  </a:cubicBezTo>
                  <a:lnTo>
                    <a:pt x="18305" y="1003163"/>
                  </a:lnTo>
                  <a:cubicBezTo>
                    <a:pt x="13450" y="1003163"/>
                    <a:pt x="8794" y="1001234"/>
                    <a:pt x="5361" y="997801"/>
                  </a:cubicBezTo>
                  <a:cubicBezTo>
                    <a:pt x="1929" y="994368"/>
                    <a:pt x="0" y="989712"/>
                    <a:pt x="0" y="984858"/>
                  </a:cubicBezTo>
                  <a:lnTo>
                    <a:pt x="0" y="18305"/>
                  </a:lnTo>
                  <a:cubicBezTo>
                    <a:pt x="0" y="13450"/>
                    <a:pt x="1929" y="8794"/>
                    <a:pt x="5361" y="5361"/>
                  </a:cubicBezTo>
                  <a:cubicBezTo>
                    <a:pt x="8794" y="1929"/>
                    <a:pt x="13450" y="0"/>
                    <a:pt x="18305" y="0"/>
                  </a:cubicBezTo>
                  <a:close/>
                </a:path>
              </a:pathLst>
            </a:custGeom>
            <a:blipFill>
              <a:blip r:embed="rId5"/>
              <a:stretch>
                <a:fillRect t="-27984" b="-27984"/>
              </a:stretch>
            </a:blipFill>
          </p:spPr>
        </p:sp>
      </p:grpSp>
      <p:grpSp>
        <p:nvGrpSpPr>
          <p:cNvPr id="20" name="Group 20"/>
          <p:cNvGrpSpPr/>
          <p:nvPr/>
        </p:nvGrpSpPr>
        <p:grpSpPr>
          <a:xfrm>
            <a:off x="11506200" y="2548330"/>
            <a:ext cx="915385" cy="2456760"/>
            <a:chOff x="0" y="0"/>
            <a:chExt cx="361634" cy="970572"/>
          </a:xfrm>
        </p:grpSpPr>
        <p:sp>
          <p:nvSpPr>
            <p:cNvPr id="21" name="Freeform 21"/>
            <p:cNvSpPr/>
            <p:nvPr/>
          </p:nvSpPr>
          <p:spPr>
            <a:xfrm>
              <a:off x="0" y="0"/>
              <a:ext cx="361634" cy="970572"/>
            </a:xfrm>
            <a:custGeom>
              <a:avLst/>
              <a:gdLst/>
              <a:ahLst/>
              <a:cxnLst/>
              <a:rect l="l" t="t" r="r" b="b"/>
              <a:pathLst>
                <a:path w="361634" h="970572">
                  <a:moveTo>
                    <a:pt x="84576" y="0"/>
                  </a:moveTo>
                  <a:lnTo>
                    <a:pt x="277058" y="0"/>
                  </a:lnTo>
                  <a:cubicBezTo>
                    <a:pt x="299489" y="0"/>
                    <a:pt x="321001" y="8911"/>
                    <a:pt x="336862" y="24772"/>
                  </a:cubicBezTo>
                  <a:cubicBezTo>
                    <a:pt x="352723" y="40633"/>
                    <a:pt x="361634" y="62145"/>
                    <a:pt x="361634" y="84576"/>
                  </a:cubicBezTo>
                  <a:lnTo>
                    <a:pt x="361634" y="885996"/>
                  </a:lnTo>
                  <a:cubicBezTo>
                    <a:pt x="361634" y="932706"/>
                    <a:pt x="323768" y="970572"/>
                    <a:pt x="277058" y="970572"/>
                  </a:cubicBezTo>
                  <a:lnTo>
                    <a:pt x="84576" y="970572"/>
                  </a:lnTo>
                  <a:cubicBezTo>
                    <a:pt x="62145" y="970572"/>
                    <a:pt x="40633" y="961661"/>
                    <a:pt x="24772" y="945800"/>
                  </a:cubicBezTo>
                  <a:cubicBezTo>
                    <a:pt x="8911" y="929939"/>
                    <a:pt x="0" y="908427"/>
                    <a:pt x="0" y="885996"/>
                  </a:cubicBezTo>
                  <a:lnTo>
                    <a:pt x="0" y="84576"/>
                  </a:lnTo>
                  <a:cubicBezTo>
                    <a:pt x="0" y="62145"/>
                    <a:pt x="8911" y="40633"/>
                    <a:pt x="24772" y="24772"/>
                  </a:cubicBezTo>
                  <a:cubicBezTo>
                    <a:pt x="40633" y="8911"/>
                    <a:pt x="62145" y="0"/>
                    <a:pt x="84576" y="0"/>
                  </a:cubicBezTo>
                  <a:close/>
                </a:path>
              </a:pathLst>
            </a:custGeom>
            <a:solidFill>
              <a:srgbClr val="FE6B00"/>
            </a:solidFill>
          </p:spPr>
        </p:sp>
        <p:sp>
          <p:nvSpPr>
            <p:cNvPr id="22" name="TextBox 22"/>
            <p:cNvSpPr txBox="1"/>
            <p:nvPr/>
          </p:nvSpPr>
          <p:spPr>
            <a:xfrm>
              <a:off x="0" y="76200"/>
              <a:ext cx="361634" cy="894372"/>
            </a:xfrm>
            <a:prstGeom prst="rect">
              <a:avLst/>
            </a:prstGeom>
          </p:spPr>
          <p:txBody>
            <a:bodyPr lIns="33867" tIns="33867" rIns="33867" bIns="33867" rtlCol="0" anchor="ctr"/>
            <a:lstStyle/>
            <a:p>
              <a:pPr algn="ctr">
                <a:lnSpc>
                  <a:spcPts val="1158"/>
                </a:lnSpc>
              </a:pPr>
              <a:endParaRPr sz="1200"/>
            </a:p>
          </p:txBody>
        </p:sp>
      </p:grpSp>
      <p:sp>
        <p:nvSpPr>
          <p:cNvPr id="25" name="TextBox 25"/>
          <p:cNvSpPr txBox="1"/>
          <p:nvPr/>
        </p:nvSpPr>
        <p:spPr>
          <a:xfrm>
            <a:off x="332949" y="782322"/>
            <a:ext cx="6115901" cy="591252"/>
          </a:xfrm>
          <a:prstGeom prst="rect">
            <a:avLst/>
          </a:prstGeom>
        </p:spPr>
        <p:txBody>
          <a:bodyPr wrap="square" lIns="0" tIns="0" rIns="0" bIns="0" rtlCol="0" anchor="t">
            <a:spAutoFit/>
          </a:bodyPr>
          <a:lstStyle/>
          <a:p>
            <a:pPr>
              <a:lnSpc>
                <a:spcPts val="4431"/>
              </a:lnSpc>
            </a:pPr>
            <a:r>
              <a:rPr lang="en-US" sz="5755" b="1" dirty="0">
                <a:solidFill>
                  <a:srgbClr val="365B6D"/>
                </a:solidFill>
                <a:latin typeface="Signika Bold"/>
                <a:ea typeface="Signika Bold"/>
                <a:cs typeface="Signika Bold"/>
                <a:sym typeface="Signika Bold"/>
              </a:rPr>
              <a:t>Problem in Brief</a:t>
            </a:r>
          </a:p>
        </p:txBody>
      </p:sp>
      <p:grpSp>
        <p:nvGrpSpPr>
          <p:cNvPr id="10" name="Group 10"/>
          <p:cNvGrpSpPr/>
          <p:nvPr/>
        </p:nvGrpSpPr>
        <p:grpSpPr>
          <a:xfrm>
            <a:off x="306473" y="1806017"/>
            <a:ext cx="6779999" cy="4812615"/>
            <a:chOff x="0" y="0"/>
            <a:chExt cx="2137363" cy="1339407"/>
          </a:xfrm>
        </p:grpSpPr>
        <p:sp>
          <p:nvSpPr>
            <p:cNvPr id="11" name="Freeform 11"/>
            <p:cNvSpPr/>
            <p:nvPr/>
          </p:nvSpPr>
          <p:spPr>
            <a:xfrm>
              <a:off x="0" y="0"/>
              <a:ext cx="2137363" cy="1339407"/>
            </a:xfrm>
            <a:custGeom>
              <a:avLst/>
              <a:gdLst/>
              <a:ahLst/>
              <a:cxnLst/>
              <a:rect l="l" t="t" r="r" b="b"/>
              <a:pathLst>
                <a:path w="2137363" h="1339407">
                  <a:moveTo>
                    <a:pt x="35298" y="0"/>
                  </a:moveTo>
                  <a:lnTo>
                    <a:pt x="2102065" y="0"/>
                  </a:lnTo>
                  <a:cubicBezTo>
                    <a:pt x="2111427" y="0"/>
                    <a:pt x="2120405" y="3719"/>
                    <a:pt x="2127024" y="10338"/>
                  </a:cubicBezTo>
                  <a:cubicBezTo>
                    <a:pt x="2133644" y="16958"/>
                    <a:pt x="2137363" y="25936"/>
                    <a:pt x="2137363" y="35298"/>
                  </a:cubicBezTo>
                  <a:lnTo>
                    <a:pt x="2137363" y="1304109"/>
                  </a:lnTo>
                  <a:cubicBezTo>
                    <a:pt x="2137363" y="1313471"/>
                    <a:pt x="2133644" y="1322449"/>
                    <a:pt x="2127024" y="1329068"/>
                  </a:cubicBezTo>
                  <a:cubicBezTo>
                    <a:pt x="2120405" y="1335688"/>
                    <a:pt x="2111427" y="1339407"/>
                    <a:pt x="2102065" y="1339407"/>
                  </a:cubicBezTo>
                  <a:lnTo>
                    <a:pt x="35298" y="1339407"/>
                  </a:lnTo>
                  <a:cubicBezTo>
                    <a:pt x="25936" y="1339407"/>
                    <a:pt x="16958" y="1335688"/>
                    <a:pt x="10338" y="1329068"/>
                  </a:cubicBezTo>
                  <a:cubicBezTo>
                    <a:pt x="3719" y="1322449"/>
                    <a:pt x="0" y="1313471"/>
                    <a:pt x="0" y="1304109"/>
                  </a:cubicBezTo>
                  <a:lnTo>
                    <a:pt x="0" y="35298"/>
                  </a:lnTo>
                  <a:cubicBezTo>
                    <a:pt x="0" y="25936"/>
                    <a:pt x="3719" y="16958"/>
                    <a:pt x="10338" y="10338"/>
                  </a:cubicBezTo>
                  <a:cubicBezTo>
                    <a:pt x="16958" y="3719"/>
                    <a:pt x="25936" y="0"/>
                    <a:pt x="35298" y="0"/>
                  </a:cubicBezTo>
                  <a:close/>
                </a:path>
              </a:pathLst>
            </a:custGeom>
            <a:solidFill>
              <a:srgbClr val="EBF0F9">
                <a:alpha val="45882"/>
              </a:srgbClr>
            </a:solidFill>
            <a:ln w="38100" cap="rnd">
              <a:solidFill>
                <a:srgbClr val="000000">
                  <a:alpha val="45882"/>
                </a:srgbClr>
              </a:solidFill>
              <a:prstDash val="solid"/>
              <a:round/>
            </a:ln>
          </p:spPr>
        </p:sp>
        <p:sp>
          <p:nvSpPr>
            <p:cNvPr id="12" name="TextBox 12"/>
            <p:cNvSpPr txBox="1"/>
            <p:nvPr/>
          </p:nvSpPr>
          <p:spPr>
            <a:xfrm>
              <a:off x="0" y="76200"/>
              <a:ext cx="2137363" cy="1263207"/>
            </a:xfrm>
            <a:prstGeom prst="rect">
              <a:avLst/>
            </a:prstGeom>
          </p:spPr>
          <p:txBody>
            <a:bodyPr lIns="33867" tIns="33867" rIns="33867" bIns="33867" rtlCol="0" anchor="ctr"/>
            <a:lstStyle/>
            <a:p>
              <a:pPr algn="ctr">
                <a:lnSpc>
                  <a:spcPts val="1158"/>
                </a:lnSpc>
              </a:pPr>
              <a:endParaRPr sz="1200"/>
            </a:p>
          </p:txBody>
        </p:sp>
      </p:grpSp>
      <p:sp>
        <p:nvSpPr>
          <p:cNvPr id="23" name="TextBox 23"/>
          <p:cNvSpPr txBox="1"/>
          <p:nvPr/>
        </p:nvSpPr>
        <p:spPr>
          <a:xfrm>
            <a:off x="332950" y="1802617"/>
            <a:ext cx="6503089" cy="4538821"/>
          </a:xfrm>
          <a:prstGeom prst="rect">
            <a:avLst/>
          </a:prstGeom>
        </p:spPr>
        <p:txBody>
          <a:bodyPr wrap="square" lIns="0" tIns="0" rIns="0" bIns="0" rtlCol="0" anchor="t">
            <a:spAutoFit/>
          </a:bodyPr>
          <a:lstStyle/>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Rockwell" panose="02060603020205020403"/>
                <a:ea typeface="+mn-ea"/>
                <a:cs typeface="+mn-cs"/>
              </a:rPr>
              <a:t>HealthCare Plus hospital currently uses a manual system for managing and maintaining critical information.</a:t>
            </a:r>
          </a:p>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Rockwell" panose="02060603020205020403"/>
                <a:ea typeface="+mn-ea"/>
                <a:cs typeface="+mn-cs"/>
              </a:rPr>
              <a:t>The system relies on numerous paper forms, with data spread across the hospital infrastructure.</a:t>
            </a:r>
          </a:p>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Rockwell" panose="02060603020205020403"/>
                <a:ea typeface="+mn-ea"/>
                <a:cs typeface="+mn-cs"/>
              </a:rPr>
              <a:t>Information </a:t>
            </a:r>
            <a:r>
              <a:rPr kumimoji="0" lang="en-US" sz="2000" b="0" i="0" u="none" strike="noStrike" kern="1200" cap="none" spc="0" normalizeH="0" baseline="0" noProof="0">
                <a:ln>
                  <a:noFill/>
                </a:ln>
                <a:solidFill>
                  <a:prstClr val="black"/>
                </a:solidFill>
                <a:effectLst/>
                <a:uLnTx/>
                <a:uFillTx/>
                <a:latin typeface="Rockwell" panose="02060603020205020403"/>
                <a:ea typeface="+mn-ea"/>
                <a:cs typeface="+mn-cs"/>
              </a:rPr>
              <a:t>on forms </a:t>
            </a:r>
            <a:r>
              <a:rPr kumimoji="0" lang="en-US" sz="2000" b="0" i="0" u="none" strike="noStrike" kern="1200" cap="none" spc="0" normalizeH="0" baseline="0" noProof="0" dirty="0">
                <a:ln>
                  <a:noFill/>
                </a:ln>
                <a:solidFill>
                  <a:prstClr val="black"/>
                </a:solidFill>
                <a:effectLst/>
                <a:uLnTx/>
                <a:uFillTx/>
                <a:latin typeface="Rockwell" panose="02060603020205020403"/>
                <a:ea typeface="+mn-ea"/>
                <a:cs typeface="+mn-cs"/>
              </a:rPr>
              <a:t>is often incomplete or not aligned with management standards.</a:t>
            </a:r>
          </a:p>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Rockwell" panose="02060603020205020403"/>
                <a:ea typeface="+mn-ea"/>
                <a:cs typeface="+mn-cs"/>
              </a:rPr>
              <a:t>Multiple copies of the same information exist, leading to data inconsistencies.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37E9F-3EFA-44A3-A974-D30A98EBAFF0}"/>
              </a:ext>
            </a:extLst>
          </p:cNvPr>
          <p:cNvSpPr>
            <a:spLocks noGrp="1"/>
          </p:cNvSpPr>
          <p:nvPr>
            <p:ph type="title"/>
          </p:nvPr>
        </p:nvSpPr>
        <p:spPr>
          <a:xfrm>
            <a:off x="1066800" y="-301841"/>
            <a:ext cx="10058400" cy="1491449"/>
          </a:xfrm>
        </p:spPr>
        <p:txBody>
          <a:bodyPr>
            <a:normAutofit/>
          </a:bodyPr>
          <a:lstStyle/>
          <a:p>
            <a:r>
              <a:rPr lang="en-US" sz="4000" dirty="0"/>
              <a:t>Existing System Comparison</a:t>
            </a:r>
          </a:p>
        </p:txBody>
      </p:sp>
      <p:pic>
        <p:nvPicPr>
          <p:cNvPr id="4" name="Picture 3">
            <a:extLst>
              <a:ext uri="{FF2B5EF4-FFF2-40B4-BE49-F238E27FC236}">
                <a16:creationId xmlns:a16="http://schemas.microsoft.com/office/drawing/2014/main" id="{530C4B5F-8598-49C6-BE79-1D3096AE6BF9}"/>
              </a:ext>
            </a:extLst>
          </p:cNvPr>
          <p:cNvPicPr/>
          <p:nvPr/>
        </p:nvPicPr>
        <p:blipFill>
          <a:blip r:embed="rId2"/>
          <a:stretch>
            <a:fillRect/>
          </a:stretch>
        </p:blipFill>
        <p:spPr>
          <a:xfrm>
            <a:off x="354810" y="807491"/>
            <a:ext cx="6614160" cy="33535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3">
            <a:extLst>
              <a:ext uri="{FF2B5EF4-FFF2-40B4-BE49-F238E27FC236}">
                <a16:creationId xmlns:a16="http://schemas.microsoft.com/office/drawing/2014/main" id="{518B141E-1C16-4E89-B7D4-B59B3F29431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4">
            <a:extLst>
              <a:ext uri="{FF2B5EF4-FFF2-40B4-BE49-F238E27FC236}">
                <a16:creationId xmlns:a16="http://schemas.microsoft.com/office/drawing/2014/main" id="{2E6DA560-DBE4-4AA3-BA29-7D3338FD0EC7}"/>
              </a:ext>
            </a:extLst>
          </p:cNvPr>
          <p:cNvSpPr>
            <a:spLocks noChangeArrowheads="1"/>
          </p:cNvSpPr>
          <p:nvPr/>
        </p:nvSpPr>
        <p:spPr bwMode="auto">
          <a:xfrm>
            <a:off x="5610686" y="4255751"/>
            <a:ext cx="6170721" cy="163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pSp>
        <p:nvGrpSpPr>
          <p:cNvPr id="8" name="Group 4">
            <a:extLst>
              <a:ext uri="{FF2B5EF4-FFF2-40B4-BE49-F238E27FC236}">
                <a16:creationId xmlns:a16="http://schemas.microsoft.com/office/drawing/2014/main" id="{2313E367-F9C1-4DD3-A155-AF2E41CB0865}"/>
              </a:ext>
            </a:extLst>
          </p:cNvPr>
          <p:cNvGrpSpPr/>
          <p:nvPr/>
        </p:nvGrpSpPr>
        <p:grpSpPr>
          <a:xfrm flipH="1">
            <a:off x="9889725" y="157375"/>
            <a:ext cx="2095129" cy="3996828"/>
            <a:chOff x="0" y="0"/>
            <a:chExt cx="3571341" cy="6836328"/>
          </a:xfrm>
        </p:grpSpPr>
        <p:sp>
          <p:nvSpPr>
            <p:cNvPr id="9" name="Freeform 5">
              <a:extLst>
                <a:ext uri="{FF2B5EF4-FFF2-40B4-BE49-F238E27FC236}">
                  <a16:creationId xmlns:a16="http://schemas.microsoft.com/office/drawing/2014/main" id="{3ED37596-68FF-4A53-AC5B-1F9BF8DEE739}"/>
                </a:ext>
              </a:extLst>
            </p:cNvPr>
            <p:cNvSpPr/>
            <p:nvPr/>
          </p:nvSpPr>
          <p:spPr>
            <a:xfrm>
              <a:off x="0" y="0"/>
              <a:ext cx="3571341" cy="6836328"/>
            </a:xfrm>
            <a:custGeom>
              <a:avLst/>
              <a:gdLst/>
              <a:ahLst/>
              <a:cxnLst/>
              <a:rect l="l" t="t" r="r" b="b"/>
              <a:pathLst>
                <a:path w="3571341" h="6836328">
                  <a:moveTo>
                    <a:pt x="3571341" y="3418164"/>
                  </a:moveTo>
                  <a:cubicBezTo>
                    <a:pt x="3571341" y="5305961"/>
                    <a:pt x="1972395" y="6836328"/>
                    <a:pt x="0" y="6836328"/>
                  </a:cubicBezTo>
                  <a:lnTo>
                    <a:pt x="0" y="0"/>
                  </a:lnTo>
                  <a:cubicBezTo>
                    <a:pt x="1972395" y="0"/>
                    <a:pt x="3571341" y="1530367"/>
                    <a:pt x="3571341" y="3418164"/>
                  </a:cubicBezTo>
                  <a:close/>
                </a:path>
              </a:pathLst>
            </a:custGeom>
            <a:blipFill>
              <a:blip r:embed="rId3"/>
              <a:stretch>
                <a:fillRect l="-42494" r="-144817"/>
              </a:stretch>
            </a:blipFill>
            <a:ln w="285750" cap="sq">
              <a:solidFill>
                <a:srgbClr val="FFFFFF"/>
              </a:solidFill>
              <a:prstDash val="solid"/>
              <a:miter/>
            </a:ln>
          </p:spPr>
        </p:sp>
      </p:grpSp>
      <p:pic>
        <p:nvPicPr>
          <p:cNvPr id="5" name="Picture 4">
            <a:extLst>
              <a:ext uri="{FF2B5EF4-FFF2-40B4-BE49-F238E27FC236}">
                <a16:creationId xmlns:a16="http://schemas.microsoft.com/office/drawing/2014/main" id="{0114E743-77BB-4886-8847-8CACE6155EDA}"/>
              </a:ext>
            </a:extLst>
          </p:cNvPr>
          <p:cNvPicPr/>
          <p:nvPr/>
        </p:nvPicPr>
        <p:blipFill>
          <a:blip r:embed="rId4"/>
          <a:stretch>
            <a:fillRect/>
          </a:stretch>
        </p:blipFill>
        <p:spPr>
          <a:xfrm>
            <a:off x="4773850" y="4311578"/>
            <a:ext cx="7211004" cy="23821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83452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69347" y="0"/>
            <a:ext cx="6929864" cy="6858000"/>
            <a:chOff x="0" y="0"/>
            <a:chExt cx="3855046" cy="3815068"/>
          </a:xfrm>
        </p:grpSpPr>
        <p:sp>
          <p:nvSpPr>
            <p:cNvPr id="3" name="Freeform 3"/>
            <p:cNvSpPr/>
            <p:nvPr/>
          </p:nvSpPr>
          <p:spPr>
            <a:xfrm>
              <a:off x="0" y="0"/>
              <a:ext cx="3855046" cy="3815068"/>
            </a:xfrm>
            <a:custGeom>
              <a:avLst/>
              <a:gdLst/>
              <a:ahLst/>
              <a:cxnLst/>
              <a:rect l="l" t="t" r="r" b="b"/>
              <a:pathLst>
                <a:path w="3855046" h="3815068">
                  <a:moveTo>
                    <a:pt x="32771" y="0"/>
                  </a:moveTo>
                  <a:lnTo>
                    <a:pt x="3822276" y="0"/>
                  </a:lnTo>
                  <a:cubicBezTo>
                    <a:pt x="3830967" y="0"/>
                    <a:pt x="3839302" y="3453"/>
                    <a:pt x="3845448" y="9598"/>
                  </a:cubicBezTo>
                  <a:cubicBezTo>
                    <a:pt x="3851594" y="15744"/>
                    <a:pt x="3855046" y="24079"/>
                    <a:pt x="3855046" y="32771"/>
                  </a:cubicBezTo>
                  <a:lnTo>
                    <a:pt x="3855046" y="3782298"/>
                  </a:lnTo>
                  <a:cubicBezTo>
                    <a:pt x="3855046" y="3800396"/>
                    <a:pt x="3840374" y="3815068"/>
                    <a:pt x="3822276" y="3815068"/>
                  </a:cubicBezTo>
                  <a:lnTo>
                    <a:pt x="32771" y="3815068"/>
                  </a:lnTo>
                  <a:cubicBezTo>
                    <a:pt x="14672" y="3815068"/>
                    <a:pt x="0" y="3800396"/>
                    <a:pt x="0" y="3782298"/>
                  </a:cubicBezTo>
                  <a:lnTo>
                    <a:pt x="0" y="32771"/>
                  </a:lnTo>
                  <a:cubicBezTo>
                    <a:pt x="0" y="14672"/>
                    <a:pt x="14672" y="0"/>
                    <a:pt x="32771" y="0"/>
                  </a:cubicBezTo>
                  <a:close/>
                </a:path>
              </a:pathLst>
            </a:custGeom>
            <a:blipFill>
              <a:blip r:embed="rId2"/>
              <a:stretch>
                <a:fillRect l="-24268" r="-24268"/>
              </a:stretch>
            </a:blipFill>
          </p:spPr>
        </p:sp>
      </p:grpSp>
      <p:grpSp>
        <p:nvGrpSpPr>
          <p:cNvPr id="4" name="Group 4"/>
          <p:cNvGrpSpPr/>
          <p:nvPr/>
        </p:nvGrpSpPr>
        <p:grpSpPr>
          <a:xfrm>
            <a:off x="2592280" y="685800"/>
            <a:ext cx="8678943" cy="5486400"/>
            <a:chOff x="0" y="0"/>
            <a:chExt cx="2721551" cy="2167467"/>
          </a:xfrm>
        </p:grpSpPr>
        <p:sp>
          <p:nvSpPr>
            <p:cNvPr id="5" name="Freeform 5"/>
            <p:cNvSpPr/>
            <p:nvPr/>
          </p:nvSpPr>
          <p:spPr>
            <a:xfrm>
              <a:off x="0" y="0"/>
              <a:ext cx="2721551" cy="2167467"/>
            </a:xfrm>
            <a:custGeom>
              <a:avLst/>
              <a:gdLst/>
              <a:ahLst/>
              <a:cxnLst/>
              <a:rect l="l" t="t" r="r" b="b"/>
              <a:pathLst>
                <a:path w="2721551" h="2167467">
                  <a:moveTo>
                    <a:pt x="27721" y="0"/>
                  </a:moveTo>
                  <a:lnTo>
                    <a:pt x="2693830" y="0"/>
                  </a:lnTo>
                  <a:cubicBezTo>
                    <a:pt x="2709140" y="0"/>
                    <a:pt x="2721551" y="12411"/>
                    <a:pt x="2721551" y="27721"/>
                  </a:cubicBezTo>
                  <a:lnTo>
                    <a:pt x="2721551" y="2139746"/>
                  </a:lnTo>
                  <a:cubicBezTo>
                    <a:pt x="2721551" y="2155056"/>
                    <a:pt x="2709140" y="2167467"/>
                    <a:pt x="2693830" y="2167467"/>
                  </a:cubicBezTo>
                  <a:lnTo>
                    <a:pt x="27721" y="2167467"/>
                  </a:lnTo>
                  <a:cubicBezTo>
                    <a:pt x="20369" y="2167467"/>
                    <a:pt x="13318" y="2164546"/>
                    <a:pt x="8119" y="2159347"/>
                  </a:cubicBezTo>
                  <a:cubicBezTo>
                    <a:pt x="2921" y="2154149"/>
                    <a:pt x="0" y="2147098"/>
                    <a:pt x="0" y="2139746"/>
                  </a:cubicBezTo>
                  <a:lnTo>
                    <a:pt x="0" y="27721"/>
                  </a:lnTo>
                  <a:cubicBezTo>
                    <a:pt x="0" y="12411"/>
                    <a:pt x="12411" y="0"/>
                    <a:pt x="27721" y="0"/>
                  </a:cubicBezTo>
                  <a:close/>
                </a:path>
              </a:pathLst>
            </a:custGeom>
            <a:solidFill>
              <a:srgbClr val="FFFFFF">
                <a:alpha val="91765"/>
              </a:srgbClr>
            </a:solidFill>
            <a:ln w="38100" cap="rnd">
              <a:solidFill>
                <a:srgbClr val="6C9286">
                  <a:alpha val="91765"/>
                </a:srgbClr>
              </a:solidFill>
              <a:prstDash val="solid"/>
              <a:round/>
            </a:ln>
          </p:spPr>
        </p:sp>
        <p:sp>
          <p:nvSpPr>
            <p:cNvPr id="6" name="TextBox 6"/>
            <p:cNvSpPr txBox="1"/>
            <p:nvPr/>
          </p:nvSpPr>
          <p:spPr>
            <a:xfrm>
              <a:off x="0" y="76200"/>
              <a:ext cx="2721551" cy="2091267"/>
            </a:xfrm>
            <a:prstGeom prst="rect">
              <a:avLst/>
            </a:prstGeom>
          </p:spPr>
          <p:txBody>
            <a:bodyPr lIns="33867" tIns="33867" rIns="33867" bIns="33867" rtlCol="0" anchor="ctr"/>
            <a:lstStyle/>
            <a:p>
              <a:pPr algn="ctr">
                <a:lnSpc>
                  <a:spcPts val="1158"/>
                </a:lnSpc>
              </a:pPr>
              <a:endParaRPr sz="1200"/>
            </a:p>
          </p:txBody>
        </p:sp>
      </p:grpSp>
      <p:sp>
        <p:nvSpPr>
          <p:cNvPr id="8" name="TextBox 8"/>
          <p:cNvSpPr txBox="1"/>
          <p:nvPr/>
        </p:nvSpPr>
        <p:spPr>
          <a:xfrm>
            <a:off x="4286730" y="1027323"/>
            <a:ext cx="6713762" cy="591252"/>
          </a:xfrm>
          <a:prstGeom prst="rect">
            <a:avLst/>
          </a:prstGeom>
        </p:spPr>
        <p:txBody>
          <a:bodyPr wrap="square" lIns="0" tIns="0" rIns="0" bIns="0" rtlCol="0" anchor="t">
            <a:spAutoFit/>
          </a:bodyPr>
          <a:lstStyle/>
          <a:p>
            <a:pPr>
              <a:lnSpc>
                <a:spcPts val="4431"/>
              </a:lnSpc>
            </a:pPr>
            <a:r>
              <a:rPr lang="en-US" sz="5755" b="1" dirty="0">
                <a:solidFill>
                  <a:srgbClr val="365B6D"/>
                </a:solidFill>
                <a:latin typeface="Signika Bold"/>
                <a:ea typeface="Signika Bold"/>
                <a:cs typeface="Signika Bold"/>
                <a:sym typeface="Signika Bold"/>
              </a:rPr>
              <a:t>Proposed Solution</a:t>
            </a:r>
          </a:p>
        </p:txBody>
      </p:sp>
      <p:sp>
        <p:nvSpPr>
          <p:cNvPr id="9" name="Freeform 9"/>
          <p:cNvSpPr/>
          <p:nvPr/>
        </p:nvSpPr>
        <p:spPr>
          <a:xfrm>
            <a:off x="11271224" y="685800"/>
            <a:ext cx="469953" cy="469953"/>
          </a:xfrm>
          <a:custGeom>
            <a:avLst/>
            <a:gdLst/>
            <a:ahLst/>
            <a:cxnLst/>
            <a:rect l="l" t="t" r="r" b="b"/>
            <a:pathLst>
              <a:path w="704930" h="704930">
                <a:moveTo>
                  <a:pt x="0" y="0"/>
                </a:moveTo>
                <a:lnTo>
                  <a:pt x="704930" y="0"/>
                </a:lnTo>
                <a:lnTo>
                  <a:pt x="704930" y="704930"/>
                </a:lnTo>
                <a:lnTo>
                  <a:pt x="0" y="7049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271224" y="5819736"/>
            <a:ext cx="704930" cy="704930"/>
          </a:xfrm>
          <a:custGeom>
            <a:avLst/>
            <a:gdLst/>
            <a:ahLst/>
            <a:cxnLst/>
            <a:rect l="l" t="t" r="r" b="b"/>
            <a:pathLst>
              <a:path w="1057395" h="1057395">
                <a:moveTo>
                  <a:pt x="0" y="0"/>
                </a:moveTo>
                <a:lnTo>
                  <a:pt x="1057395" y="0"/>
                </a:lnTo>
                <a:lnTo>
                  <a:pt x="1057395" y="1057394"/>
                </a:lnTo>
                <a:lnTo>
                  <a:pt x="0" y="10573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2743198" y="1566764"/>
            <a:ext cx="8346615" cy="4412555"/>
          </a:xfrm>
          <a:prstGeom prst="rect">
            <a:avLst/>
          </a:prstGeom>
        </p:spPr>
        <p:txBody>
          <a:bodyPr wrap="square" lIns="0" tIns="0" rIns="0" bIns="0" rtlCol="0" anchor="t">
            <a:spAutoFit/>
          </a:bodyPr>
          <a:lstStyle/>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The proposed solution uses modern technologies such as HTML, CSS and JavaScript as front-end technologies, PHP as back-end technologies and MySQL as database to streamline hospital operations, enhance patient care and reduce operational costs. </a:t>
            </a:r>
          </a:p>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There is a new feature introduces in the system is AI-powered symptom checker will develop using </a:t>
            </a:r>
            <a:r>
              <a:rPr kumimoji="0" lang="en-US" sz="1800" b="0" i="0" u="none" strike="noStrike" kern="1200" cap="none" spc="0" normalizeH="0" baseline="0" noProof="0" dirty="0" err="1">
                <a:ln>
                  <a:noFill/>
                </a:ln>
                <a:solidFill>
                  <a:prstClr val="black"/>
                </a:solidFill>
                <a:effectLst/>
                <a:uLnTx/>
                <a:uFillTx/>
                <a:latin typeface="Rockwell" panose="02060603020205020403"/>
                <a:ea typeface="+mn-ea"/>
                <a:cs typeface="+mn-cs"/>
              </a:rPr>
              <a:t>OpenAI</a:t>
            </a: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 GPT API that allows to patients to input their symptoms and receive preliminary guidance on possible conditions before scheduling an appointment. </a:t>
            </a:r>
          </a:p>
          <a:p>
            <a:pPr marL="182880" marR="0" lvl="0" indent="-182880" algn="just" defTabSz="914400" rtl="0" eaLnBrk="1" fontAlgn="auto" latinLnBrk="0" hangingPunct="1">
              <a:lnSpc>
                <a:spcPct val="150000"/>
              </a:lnSpc>
              <a:spcBef>
                <a:spcPts val="1200"/>
              </a:spcBef>
              <a:spcAft>
                <a:spcPts val="0"/>
              </a:spcAft>
              <a:buClr>
                <a:srgbClr val="D34817">
                  <a:lumMod val="75000"/>
                </a:srgbClr>
              </a:buClr>
              <a:buSzPct val="85000"/>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Rockwell" panose="02060603020205020403"/>
                <a:ea typeface="+mn-ea"/>
                <a:cs typeface="+mn-cs"/>
              </a:rPr>
              <a:t>There also another new feature introduces in the system Email notification service.</a:t>
            </a:r>
            <a:endParaRPr lang="en-US" sz="1703" b="1" dirty="0">
              <a:solidFill>
                <a:srgbClr val="365B6D"/>
              </a:solidFill>
              <a:latin typeface="DM Sans Bold"/>
              <a:ea typeface="DM Sans Bold"/>
              <a:cs typeface="DM Sans Bold"/>
              <a:sym typeface="DM Sans Bold"/>
            </a:endParaRPr>
          </a:p>
        </p:txBody>
      </p:sp>
      <p:grpSp>
        <p:nvGrpSpPr>
          <p:cNvPr id="14" name="Group 14"/>
          <p:cNvGrpSpPr/>
          <p:nvPr/>
        </p:nvGrpSpPr>
        <p:grpSpPr>
          <a:xfrm>
            <a:off x="-229585" y="2200620"/>
            <a:ext cx="915385" cy="2456760"/>
            <a:chOff x="0" y="0"/>
            <a:chExt cx="361634" cy="970572"/>
          </a:xfrm>
        </p:grpSpPr>
        <p:sp>
          <p:nvSpPr>
            <p:cNvPr id="15" name="Freeform 15"/>
            <p:cNvSpPr/>
            <p:nvPr/>
          </p:nvSpPr>
          <p:spPr>
            <a:xfrm>
              <a:off x="0" y="0"/>
              <a:ext cx="361634" cy="970572"/>
            </a:xfrm>
            <a:custGeom>
              <a:avLst/>
              <a:gdLst/>
              <a:ahLst/>
              <a:cxnLst/>
              <a:rect l="l" t="t" r="r" b="b"/>
              <a:pathLst>
                <a:path w="361634" h="970572">
                  <a:moveTo>
                    <a:pt x="84576" y="0"/>
                  </a:moveTo>
                  <a:lnTo>
                    <a:pt x="277058" y="0"/>
                  </a:lnTo>
                  <a:cubicBezTo>
                    <a:pt x="299489" y="0"/>
                    <a:pt x="321001" y="8911"/>
                    <a:pt x="336862" y="24772"/>
                  </a:cubicBezTo>
                  <a:cubicBezTo>
                    <a:pt x="352723" y="40633"/>
                    <a:pt x="361634" y="62145"/>
                    <a:pt x="361634" y="84576"/>
                  </a:cubicBezTo>
                  <a:lnTo>
                    <a:pt x="361634" y="885996"/>
                  </a:lnTo>
                  <a:cubicBezTo>
                    <a:pt x="361634" y="932706"/>
                    <a:pt x="323768" y="970572"/>
                    <a:pt x="277058" y="970572"/>
                  </a:cubicBezTo>
                  <a:lnTo>
                    <a:pt x="84576" y="970572"/>
                  </a:lnTo>
                  <a:cubicBezTo>
                    <a:pt x="62145" y="970572"/>
                    <a:pt x="40633" y="961661"/>
                    <a:pt x="24772" y="945800"/>
                  </a:cubicBezTo>
                  <a:cubicBezTo>
                    <a:pt x="8911" y="929939"/>
                    <a:pt x="0" y="908427"/>
                    <a:pt x="0" y="885996"/>
                  </a:cubicBezTo>
                  <a:lnTo>
                    <a:pt x="0" y="84576"/>
                  </a:lnTo>
                  <a:cubicBezTo>
                    <a:pt x="0" y="62145"/>
                    <a:pt x="8911" y="40633"/>
                    <a:pt x="24772" y="24772"/>
                  </a:cubicBezTo>
                  <a:cubicBezTo>
                    <a:pt x="40633" y="8911"/>
                    <a:pt x="62145" y="0"/>
                    <a:pt x="84576" y="0"/>
                  </a:cubicBezTo>
                  <a:close/>
                </a:path>
              </a:pathLst>
            </a:custGeom>
            <a:solidFill>
              <a:srgbClr val="FE6B00"/>
            </a:solidFill>
          </p:spPr>
        </p:sp>
        <p:sp>
          <p:nvSpPr>
            <p:cNvPr id="16" name="TextBox 16"/>
            <p:cNvSpPr txBox="1"/>
            <p:nvPr/>
          </p:nvSpPr>
          <p:spPr>
            <a:xfrm>
              <a:off x="0" y="76200"/>
              <a:ext cx="361634" cy="894372"/>
            </a:xfrm>
            <a:prstGeom prst="rect">
              <a:avLst/>
            </a:prstGeom>
          </p:spPr>
          <p:txBody>
            <a:bodyPr lIns="33867" tIns="33867" rIns="33867" bIns="33867" rtlCol="0" anchor="ctr"/>
            <a:lstStyle/>
            <a:p>
              <a:pPr algn="ctr">
                <a:lnSpc>
                  <a:spcPts val="1158"/>
                </a:lnSpc>
              </a:pPr>
              <a:endParaRPr sz="1200"/>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37E9F-3EFA-44A3-A974-D30A98EBAFF0}"/>
              </a:ext>
            </a:extLst>
          </p:cNvPr>
          <p:cNvSpPr>
            <a:spLocks noGrp="1"/>
          </p:cNvSpPr>
          <p:nvPr>
            <p:ph type="title"/>
          </p:nvPr>
        </p:nvSpPr>
        <p:spPr>
          <a:xfrm>
            <a:off x="0" y="0"/>
            <a:ext cx="12191999" cy="1003177"/>
          </a:xfrm>
        </p:spPr>
        <p:txBody>
          <a:bodyPr>
            <a:normAutofit/>
          </a:bodyPr>
          <a:lstStyle/>
          <a:p>
            <a:r>
              <a:rPr lang="en-US" dirty="0"/>
              <a:t>Methodology</a:t>
            </a:r>
          </a:p>
        </p:txBody>
      </p:sp>
      <p:sp>
        <p:nvSpPr>
          <p:cNvPr id="11" name="TextBox 10">
            <a:extLst>
              <a:ext uri="{FF2B5EF4-FFF2-40B4-BE49-F238E27FC236}">
                <a16:creationId xmlns:a16="http://schemas.microsoft.com/office/drawing/2014/main" id="{A0FC598E-792F-424B-ACA0-2698FE38F2B0}"/>
              </a:ext>
            </a:extLst>
          </p:cNvPr>
          <p:cNvSpPr txBox="1"/>
          <p:nvPr/>
        </p:nvSpPr>
        <p:spPr>
          <a:xfrm>
            <a:off x="0" y="863638"/>
            <a:ext cx="4706501" cy="128887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The Agile Methodology used to develop the HealthCare Plus Online Hospital Management system.</a:t>
            </a:r>
          </a:p>
        </p:txBody>
      </p:sp>
      <p:graphicFrame>
        <p:nvGraphicFramePr>
          <p:cNvPr id="5" name="Diagram 4">
            <a:extLst>
              <a:ext uri="{FF2B5EF4-FFF2-40B4-BE49-F238E27FC236}">
                <a16:creationId xmlns:a16="http://schemas.microsoft.com/office/drawing/2014/main" id="{E806CB52-3FD2-4BA9-90CC-620ABA95D543}"/>
              </a:ext>
            </a:extLst>
          </p:cNvPr>
          <p:cNvGraphicFramePr/>
          <p:nvPr>
            <p:extLst>
              <p:ext uri="{D42A27DB-BD31-4B8C-83A1-F6EECF244321}">
                <p14:modId xmlns:p14="http://schemas.microsoft.com/office/powerpoint/2010/main" val="833209693"/>
              </p:ext>
            </p:extLst>
          </p:nvPr>
        </p:nvGraphicFramePr>
        <p:xfrm>
          <a:off x="4706501" y="0"/>
          <a:ext cx="7485497"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92E38524-7010-4F9C-BFDF-0F24179E22B3}"/>
              </a:ext>
            </a:extLst>
          </p:cNvPr>
          <p:cNvPicPr>
            <a:picLocks noChangeAspect="1"/>
          </p:cNvPicPr>
          <p:nvPr/>
        </p:nvPicPr>
        <p:blipFill>
          <a:blip r:embed="rId7"/>
          <a:stretch>
            <a:fillRect/>
          </a:stretch>
        </p:blipFill>
        <p:spPr>
          <a:xfrm>
            <a:off x="101220" y="4172505"/>
            <a:ext cx="4774213" cy="2685495"/>
          </a:xfrm>
          <a:prstGeom prst="rect">
            <a:avLst/>
          </a:prstGeom>
        </p:spPr>
      </p:pic>
    </p:spTree>
    <p:extLst>
      <p:ext uri="{BB962C8B-B14F-4D97-AF65-F5344CB8AC3E}">
        <p14:creationId xmlns:p14="http://schemas.microsoft.com/office/powerpoint/2010/main" val="19163915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37E9F-3EFA-44A3-A974-D30A98EBAFF0}"/>
              </a:ext>
            </a:extLst>
          </p:cNvPr>
          <p:cNvSpPr>
            <a:spLocks noGrp="1"/>
          </p:cNvSpPr>
          <p:nvPr>
            <p:ph type="title"/>
          </p:nvPr>
        </p:nvSpPr>
        <p:spPr>
          <a:xfrm>
            <a:off x="1066799" y="0"/>
            <a:ext cx="10058400" cy="1003177"/>
          </a:xfrm>
        </p:spPr>
        <p:txBody>
          <a:bodyPr/>
          <a:lstStyle/>
          <a:p>
            <a:r>
              <a:rPr lang="en-US" dirty="0"/>
              <a:t>technologies</a:t>
            </a:r>
          </a:p>
        </p:txBody>
      </p:sp>
      <p:pic>
        <p:nvPicPr>
          <p:cNvPr id="1026" name="Picture 2" descr="HTML &lt;link&gt; Tag">
            <a:extLst>
              <a:ext uri="{FF2B5EF4-FFF2-40B4-BE49-F238E27FC236}">
                <a16:creationId xmlns:a16="http://schemas.microsoft.com/office/drawing/2014/main" id="{D86E8CE7-B651-4DE6-B7B7-8E08776011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849" y="1484790"/>
            <a:ext cx="21336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SS Best Practices and Tips from CSS experts | Toptal®">
            <a:extLst>
              <a:ext uri="{FF2B5EF4-FFF2-40B4-BE49-F238E27FC236}">
                <a16:creationId xmlns:a16="http://schemas.microsoft.com/office/drawing/2014/main" id="{F06AC33F-FD2D-4B8F-83FD-3115A53712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6254" y="1243984"/>
            <a:ext cx="1944210" cy="19442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vaScript Logo, symbol, meaning, history, PNG, brand">
            <a:extLst>
              <a:ext uri="{FF2B5EF4-FFF2-40B4-BE49-F238E27FC236}">
                <a16:creationId xmlns:a16="http://schemas.microsoft.com/office/drawing/2014/main" id="{3F7DBC9E-EF6B-44DF-AE4B-8C2FC4A046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890" r="21036"/>
          <a:stretch/>
        </p:blipFill>
        <p:spPr bwMode="auto">
          <a:xfrm>
            <a:off x="3728372" y="1417098"/>
            <a:ext cx="1507768" cy="1597981"/>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6F25FE85-083F-4F56-96FC-EB7320CFA882}"/>
              </a:ext>
            </a:extLst>
          </p:cNvPr>
          <p:cNvSpPr>
            <a:spLocks noGrp="1"/>
          </p:cNvSpPr>
          <p:nvPr>
            <p:ph idx="1"/>
          </p:nvPr>
        </p:nvSpPr>
        <p:spPr>
          <a:xfrm>
            <a:off x="1736178" y="886658"/>
            <a:ext cx="2963956" cy="714652"/>
          </a:xfrm>
        </p:spPr>
        <p:txBody>
          <a:bodyPr>
            <a:normAutofit fontScale="70000" lnSpcReduction="20000"/>
          </a:bodyPr>
          <a:lstStyle/>
          <a:p>
            <a:pPr marL="0" indent="0" algn="just">
              <a:lnSpc>
                <a:spcPct val="220000"/>
              </a:lnSpc>
              <a:buNone/>
            </a:pPr>
            <a:r>
              <a:rPr lang="en-US" b="1" dirty="0"/>
              <a:t>FRONTEND TECHNOLOGIES</a:t>
            </a:r>
          </a:p>
        </p:txBody>
      </p:sp>
      <p:sp>
        <p:nvSpPr>
          <p:cNvPr id="8" name="Content Placeholder 2">
            <a:extLst>
              <a:ext uri="{FF2B5EF4-FFF2-40B4-BE49-F238E27FC236}">
                <a16:creationId xmlns:a16="http://schemas.microsoft.com/office/drawing/2014/main" id="{CF070A44-EBCF-487D-8042-FFE087AB5E03}"/>
              </a:ext>
            </a:extLst>
          </p:cNvPr>
          <p:cNvSpPr txBox="1">
            <a:spLocks/>
          </p:cNvSpPr>
          <p:nvPr/>
        </p:nvSpPr>
        <p:spPr>
          <a:xfrm>
            <a:off x="7491866" y="903860"/>
            <a:ext cx="2963956" cy="714652"/>
          </a:xfrm>
          <a:prstGeom prst="rect">
            <a:avLst/>
          </a:prstGeom>
        </p:spPr>
        <p:txBody>
          <a:bodyPr vert="horz" lIns="91440" tIns="45720" rIns="91440" bIns="45720" rtlCol="0">
            <a:normAutofit fontScale="70000" lnSpcReduction="2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just">
              <a:lnSpc>
                <a:spcPct val="220000"/>
              </a:lnSpc>
              <a:buFont typeface="Wingdings" pitchFamily="2" charset="2"/>
              <a:buNone/>
            </a:pPr>
            <a:r>
              <a:rPr lang="en-US" b="1" dirty="0"/>
              <a:t>BACKEND TECHNOLOGIES</a:t>
            </a:r>
          </a:p>
        </p:txBody>
      </p:sp>
      <p:pic>
        <p:nvPicPr>
          <p:cNvPr id="3" name="Picture 2" descr="PHP - VM">
            <a:extLst>
              <a:ext uri="{FF2B5EF4-FFF2-40B4-BE49-F238E27FC236}">
                <a16:creationId xmlns:a16="http://schemas.microsoft.com/office/drawing/2014/main" id="{2041E495-B64C-436D-8AAD-EFDC295A1F1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8900" b="18085"/>
          <a:stretch/>
        </p:blipFill>
        <p:spPr bwMode="auto">
          <a:xfrm>
            <a:off x="7902281" y="1484790"/>
            <a:ext cx="2143125" cy="135051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How to install a Web server with XAMPP">
            <a:extLst>
              <a:ext uri="{FF2B5EF4-FFF2-40B4-BE49-F238E27FC236}">
                <a16:creationId xmlns:a16="http://schemas.microsoft.com/office/drawing/2014/main" id="{B0688CAC-E0B2-4B46-9663-F7961E51C14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9078" b="22057"/>
          <a:stretch/>
        </p:blipFill>
        <p:spPr bwMode="auto">
          <a:xfrm>
            <a:off x="1378786" y="3847918"/>
            <a:ext cx="2843325" cy="1113038"/>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3B292822-CDCE-4579-9DDA-21285599815F}"/>
              </a:ext>
            </a:extLst>
          </p:cNvPr>
          <p:cNvSpPr txBox="1">
            <a:spLocks/>
          </p:cNvSpPr>
          <p:nvPr/>
        </p:nvSpPr>
        <p:spPr>
          <a:xfrm>
            <a:off x="1518300" y="3352432"/>
            <a:ext cx="2963956" cy="71465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lnSpc>
                <a:spcPct val="220000"/>
              </a:lnSpc>
              <a:buFont typeface="Wingdings" pitchFamily="2" charset="2"/>
              <a:buNone/>
            </a:pPr>
            <a:r>
              <a:rPr lang="en-US" sz="1400" b="1" dirty="0"/>
              <a:t>SERVER</a:t>
            </a:r>
          </a:p>
        </p:txBody>
      </p:sp>
      <p:pic>
        <p:nvPicPr>
          <p:cNvPr id="5" name="Picture 6" descr="What is MySQL? | OVHcloud Asia">
            <a:extLst>
              <a:ext uri="{FF2B5EF4-FFF2-40B4-BE49-F238E27FC236}">
                <a16:creationId xmlns:a16="http://schemas.microsoft.com/office/drawing/2014/main" id="{B6F4F56D-505F-4BAA-A4C1-7025A6374F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2281" y="3709758"/>
            <a:ext cx="2749859" cy="1178511"/>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6489A8CC-1029-4503-A6CA-2F8C85DBD290}"/>
              </a:ext>
            </a:extLst>
          </p:cNvPr>
          <p:cNvSpPr txBox="1">
            <a:spLocks/>
          </p:cNvSpPr>
          <p:nvPr/>
        </p:nvSpPr>
        <p:spPr>
          <a:xfrm>
            <a:off x="7490684" y="3222596"/>
            <a:ext cx="2963956" cy="71465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lnSpc>
                <a:spcPct val="220000"/>
              </a:lnSpc>
              <a:buFont typeface="Wingdings" pitchFamily="2" charset="2"/>
              <a:buNone/>
            </a:pPr>
            <a:r>
              <a:rPr lang="en-US" sz="1400" b="1" dirty="0"/>
              <a:t>DATABASE</a:t>
            </a:r>
          </a:p>
        </p:txBody>
      </p:sp>
      <p:pic>
        <p:nvPicPr>
          <p:cNvPr id="1032" name="Picture 8" descr="Notepad++ | Reviews, Pricing &amp; Demos - SoftwareAdvice AU">
            <a:extLst>
              <a:ext uri="{FF2B5EF4-FFF2-40B4-BE49-F238E27FC236}">
                <a16:creationId xmlns:a16="http://schemas.microsoft.com/office/drawing/2014/main" id="{4ED89270-2A62-42CB-BA18-875231B9D0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2970" y="4114018"/>
            <a:ext cx="1920258" cy="1920258"/>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2">
            <a:extLst>
              <a:ext uri="{FF2B5EF4-FFF2-40B4-BE49-F238E27FC236}">
                <a16:creationId xmlns:a16="http://schemas.microsoft.com/office/drawing/2014/main" id="{6FB32862-E504-447C-9C83-676B16209B62}"/>
              </a:ext>
            </a:extLst>
          </p:cNvPr>
          <p:cNvSpPr txBox="1">
            <a:spLocks/>
          </p:cNvSpPr>
          <p:nvPr/>
        </p:nvSpPr>
        <p:spPr>
          <a:xfrm>
            <a:off x="4580218" y="3709758"/>
            <a:ext cx="2963956" cy="71465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lnSpc>
                <a:spcPct val="220000"/>
              </a:lnSpc>
              <a:buFont typeface="Wingdings" pitchFamily="2" charset="2"/>
              <a:buNone/>
            </a:pPr>
            <a:r>
              <a:rPr lang="en-US" sz="1400" b="1" dirty="0"/>
              <a:t>CODE EDITOR </a:t>
            </a:r>
          </a:p>
        </p:txBody>
      </p:sp>
      <p:pic>
        <p:nvPicPr>
          <p:cNvPr id="6" name="Picture 2" descr="Visual Studio Code launches as a snap">
            <a:extLst>
              <a:ext uri="{FF2B5EF4-FFF2-40B4-BE49-F238E27FC236}">
                <a16:creationId xmlns:a16="http://schemas.microsoft.com/office/drawing/2014/main" id="{F065EE2D-D8E6-4C15-A875-35E0C7192A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73363" y="4529975"/>
            <a:ext cx="2431002" cy="1215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689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l="31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9EE78-DDA1-43E4-84F6-7116B8F064CD}"/>
              </a:ext>
            </a:extLst>
          </p:cNvPr>
          <p:cNvSpPr>
            <a:spLocks noGrp="1"/>
          </p:cNvSpPr>
          <p:nvPr>
            <p:ph idx="1"/>
          </p:nvPr>
        </p:nvSpPr>
        <p:spPr>
          <a:xfrm>
            <a:off x="510170" y="223520"/>
            <a:ext cx="11029615" cy="6634480"/>
          </a:xfrm>
        </p:spPr>
        <p:txBody>
          <a:bodyPr>
            <a:normAutofit fontScale="70000" lnSpcReduction="20000"/>
          </a:bodyPr>
          <a:lstStyle/>
          <a:p>
            <a:pPr marL="0" indent="0" algn="just">
              <a:lnSpc>
                <a:spcPct val="220000"/>
              </a:lnSpc>
              <a:buNone/>
            </a:pPr>
            <a:r>
              <a:rPr lang="en-US" sz="2900" dirty="0"/>
              <a:t>Here are the Features of the System:</a:t>
            </a:r>
          </a:p>
          <a:p>
            <a:pPr algn="just">
              <a:lnSpc>
                <a:spcPct val="220000"/>
              </a:lnSpc>
            </a:pPr>
            <a:r>
              <a:rPr lang="en-US" dirty="0"/>
              <a:t>Patient Management</a:t>
            </a:r>
          </a:p>
          <a:p>
            <a:pPr algn="just">
              <a:lnSpc>
                <a:spcPct val="220000"/>
              </a:lnSpc>
            </a:pPr>
            <a:r>
              <a:rPr lang="en-US" dirty="0"/>
              <a:t> Appointment Scheduling</a:t>
            </a:r>
          </a:p>
          <a:p>
            <a:pPr algn="just">
              <a:lnSpc>
                <a:spcPct val="220000"/>
              </a:lnSpc>
            </a:pPr>
            <a:r>
              <a:rPr lang="en-US" dirty="0"/>
              <a:t> Billing and Payment</a:t>
            </a:r>
          </a:p>
          <a:p>
            <a:pPr algn="just">
              <a:lnSpc>
                <a:spcPct val="220000"/>
              </a:lnSpc>
            </a:pPr>
            <a:r>
              <a:rPr lang="en-US" dirty="0"/>
              <a:t> Patients Medical Record Management</a:t>
            </a:r>
          </a:p>
          <a:p>
            <a:pPr algn="just">
              <a:lnSpc>
                <a:spcPct val="220000"/>
              </a:lnSpc>
            </a:pPr>
            <a:r>
              <a:rPr lang="en-US" dirty="0"/>
              <a:t> AI-Powered Symptom Checker</a:t>
            </a:r>
          </a:p>
          <a:p>
            <a:pPr algn="just">
              <a:lnSpc>
                <a:spcPct val="220000"/>
              </a:lnSpc>
            </a:pPr>
            <a:r>
              <a:rPr lang="en-US" dirty="0"/>
              <a:t> Staff and Resource Management</a:t>
            </a:r>
          </a:p>
          <a:p>
            <a:pPr algn="just">
              <a:lnSpc>
                <a:spcPct val="220000"/>
              </a:lnSpc>
            </a:pPr>
            <a:r>
              <a:rPr lang="en-US" dirty="0"/>
              <a:t> Feedback and Support</a:t>
            </a:r>
          </a:p>
          <a:p>
            <a:pPr algn="just">
              <a:lnSpc>
                <a:spcPct val="220000"/>
              </a:lnSpc>
            </a:pPr>
            <a:r>
              <a:rPr lang="en-US" dirty="0"/>
              <a:t>Doctor Scheduling and Appointment Booking</a:t>
            </a:r>
          </a:p>
          <a:p>
            <a:pPr algn="just">
              <a:lnSpc>
                <a:spcPct val="220000"/>
              </a:lnSpc>
            </a:pPr>
            <a:r>
              <a:rPr lang="en-US" dirty="0"/>
              <a:t>Admin Panel for System Maintenance</a:t>
            </a:r>
          </a:p>
          <a:p>
            <a:pPr algn="just">
              <a:lnSpc>
                <a:spcPct val="220000"/>
              </a:lnSpc>
            </a:pPr>
            <a:r>
              <a:rPr lang="en-US" dirty="0"/>
              <a:t>Hospital Monthly Report Management.</a:t>
            </a:r>
          </a:p>
        </p:txBody>
      </p:sp>
    </p:spTree>
    <p:extLst>
      <p:ext uri="{BB962C8B-B14F-4D97-AF65-F5344CB8AC3E}">
        <p14:creationId xmlns:p14="http://schemas.microsoft.com/office/powerpoint/2010/main" val="3211496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lum/>
          </a:blip>
          <a:srcRect/>
          <a:stretch>
            <a:fillRect l="31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9EE78-DDA1-43E4-84F6-7116B8F064CD}"/>
              </a:ext>
            </a:extLst>
          </p:cNvPr>
          <p:cNvSpPr>
            <a:spLocks noGrp="1"/>
          </p:cNvSpPr>
          <p:nvPr>
            <p:ph idx="1"/>
          </p:nvPr>
        </p:nvSpPr>
        <p:spPr>
          <a:xfrm>
            <a:off x="483537" y="0"/>
            <a:ext cx="2810079" cy="735268"/>
          </a:xfrm>
        </p:spPr>
        <p:txBody>
          <a:bodyPr>
            <a:normAutofit/>
          </a:bodyPr>
          <a:lstStyle/>
          <a:p>
            <a:pPr marL="0" indent="0" algn="just">
              <a:lnSpc>
                <a:spcPct val="220000"/>
              </a:lnSpc>
              <a:buNone/>
            </a:pPr>
            <a:r>
              <a:rPr lang="en-US" dirty="0"/>
              <a:t>System Architecture.</a:t>
            </a:r>
          </a:p>
        </p:txBody>
      </p:sp>
      <p:pic>
        <p:nvPicPr>
          <p:cNvPr id="4" name="Picture 3">
            <a:extLst>
              <a:ext uri="{FF2B5EF4-FFF2-40B4-BE49-F238E27FC236}">
                <a16:creationId xmlns:a16="http://schemas.microsoft.com/office/drawing/2014/main" id="{ACE2ED6E-1337-41D7-BAB1-ABEDF99FE4B0}"/>
              </a:ext>
            </a:extLst>
          </p:cNvPr>
          <p:cNvPicPr/>
          <p:nvPr/>
        </p:nvPicPr>
        <p:blipFill>
          <a:blip r:embed="rId3"/>
          <a:stretch>
            <a:fillRect/>
          </a:stretch>
        </p:blipFill>
        <p:spPr>
          <a:xfrm>
            <a:off x="290269" y="1040213"/>
            <a:ext cx="4189730" cy="51149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2">
            <a:extLst>
              <a:ext uri="{FF2B5EF4-FFF2-40B4-BE49-F238E27FC236}">
                <a16:creationId xmlns:a16="http://schemas.microsoft.com/office/drawing/2014/main" id="{86D5368F-3DE1-429E-8531-D6F0D0CEB769}"/>
              </a:ext>
            </a:extLst>
          </p:cNvPr>
          <p:cNvSpPr txBox="1">
            <a:spLocks/>
          </p:cNvSpPr>
          <p:nvPr/>
        </p:nvSpPr>
        <p:spPr>
          <a:xfrm>
            <a:off x="6717141" y="0"/>
            <a:ext cx="2810079" cy="735268"/>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just">
              <a:lnSpc>
                <a:spcPct val="220000"/>
              </a:lnSpc>
              <a:buFont typeface="Wingdings" pitchFamily="2" charset="2"/>
              <a:buNone/>
            </a:pPr>
            <a:r>
              <a:rPr lang="en-US" dirty="0"/>
              <a:t>System Interfaces.</a:t>
            </a:r>
          </a:p>
        </p:txBody>
      </p:sp>
      <p:pic>
        <p:nvPicPr>
          <p:cNvPr id="18" name="Picture 17">
            <a:extLst>
              <a:ext uri="{FF2B5EF4-FFF2-40B4-BE49-F238E27FC236}">
                <a16:creationId xmlns:a16="http://schemas.microsoft.com/office/drawing/2014/main" id="{BD222219-3214-49C8-8009-BEBBDAC11623}"/>
              </a:ext>
            </a:extLst>
          </p:cNvPr>
          <p:cNvPicPr/>
          <p:nvPr/>
        </p:nvPicPr>
        <p:blipFill>
          <a:blip r:embed="rId4"/>
          <a:stretch>
            <a:fillRect/>
          </a:stretch>
        </p:blipFill>
        <p:spPr>
          <a:xfrm>
            <a:off x="6423014" y="2214562"/>
            <a:ext cx="4012565" cy="2428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9" name="Picture 18">
            <a:extLst>
              <a:ext uri="{FF2B5EF4-FFF2-40B4-BE49-F238E27FC236}">
                <a16:creationId xmlns:a16="http://schemas.microsoft.com/office/drawing/2014/main" id="{6C05ADE0-B53D-40E5-88CE-7B4CBC340A0D}"/>
              </a:ext>
            </a:extLst>
          </p:cNvPr>
          <p:cNvPicPr/>
          <p:nvPr/>
        </p:nvPicPr>
        <p:blipFill>
          <a:blip r:embed="rId5"/>
          <a:stretch>
            <a:fillRect/>
          </a:stretch>
        </p:blipFill>
        <p:spPr>
          <a:xfrm>
            <a:off x="5750800" y="2013266"/>
            <a:ext cx="5010150" cy="28314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1D66A2FE-8E70-42FF-BB92-FCBFD02319AD}"/>
              </a:ext>
            </a:extLst>
          </p:cNvPr>
          <p:cNvPicPr/>
          <p:nvPr/>
        </p:nvPicPr>
        <p:blipFill>
          <a:blip r:embed="rId6"/>
          <a:stretch>
            <a:fillRect/>
          </a:stretch>
        </p:blipFill>
        <p:spPr>
          <a:xfrm>
            <a:off x="6791855" y="865297"/>
            <a:ext cx="2257552" cy="55355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1" name="Picture 20">
            <a:extLst>
              <a:ext uri="{FF2B5EF4-FFF2-40B4-BE49-F238E27FC236}">
                <a16:creationId xmlns:a16="http://schemas.microsoft.com/office/drawing/2014/main" id="{47FBEBE8-BE5E-4C24-B509-4573FB5190C4}"/>
              </a:ext>
            </a:extLst>
          </p:cNvPr>
          <p:cNvPicPr/>
          <p:nvPr/>
        </p:nvPicPr>
        <p:blipFill>
          <a:blip r:embed="rId7"/>
          <a:stretch>
            <a:fillRect/>
          </a:stretch>
        </p:blipFill>
        <p:spPr>
          <a:xfrm>
            <a:off x="5883197" y="2214562"/>
            <a:ext cx="4745355" cy="2371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a:extLst>
              <a:ext uri="{FF2B5EF4-FFF2-40B4-BE49-F238E27FC236}">
                <a16:creationId xmlns:a16="http://schemas.microsoft.com/office/drawing/2014/main" id="{D1D1F511-21D2-4D25-82B8-4EC04384351B}"/>
              </a:ext>
            </a:extLst>
          </p:cNvPr>
          <p:cNvPicPr/>
          <p:nvPr/>
        </p:nvPicPr>
        <p:blipFill>
          <a:blip r:embed="rId8"/>
          <a:stretch>
            <a:fillRect/>
          </a:stretch>
        </p:blipFill>
        <p:spPr>
          <a:xfrm>
            <a:off x="6147991" y="2333623"/>
            <a:ext cx="4215765" cy="2190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3" name="Picture 22">
            <a:extLst>
              <a:ext uri="{FF2B5EF4-FFF2-40B4-BE49-F238E27FC236}">
                <a16:creationId xmlns:a16="http://schemas.microsoft.com/office/drawing/2014/main" id="{26DEF45C-3BDB-4B2A-8705-DF32FBED27D0}"/>
              </a:ext>
            </a:extLst>
          </p:cNvPr>
          <p:cNvPicPr/>
          <p:nvPr/>
        </p:nvPicPr>
        <p:blipFill rotWithShape="1">
          <a:blip r:embed="rId9"/>
          <a:srcRect b="14676"/>
          <a:stretch/>
        </p:blipFill>
        <p:spPr bwMode="auto">
          <a:xfrm>
            <a:off x="6215047" y="2298698"/>
            <a:ext cx="4286250" cy="2225675"/>
          </a:xfrm>
          <a:prstGeom prst="rect">
            <a:avLst/>
          </a:prstGeom>
          <a:ln w="38100" cap="sq" cmpd="sng" algn="ctr">
            <a:solidFill>
              <a:srgbClr val="000000"/>
            </a:solidFill>
            <a:prstDash val="solid"/>
            <a:miter lim="800000"/>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pic>
        <p:nvPicPr>
          <p:cNvPr id="24" name="Picture 23">
            <a:extLst>
              <a:ext uri="{FF2B5EF4-FFF2-40B4-BE49-F238E27FC236}">
                <a16:creationId xmlns:a16="http://schemas.microsoft.com/office/drawing/2014/main" id="{6E2D5A96-2933-4B85-A79F-B81216303370}"/>
              </a:ext>
            </a:extLst>
          </p:cNvPr>
          <p:cNvPicPr/>
          <p:nvPr/>
        </p:nvPicPr>
        <p:blipFill>
          <a:blip r:embed="rId10"/>
          <a:stretch>
            <a:fillRect/>
          </a:stretch>
        </p:blipFill>
        <p:spPr>
          <a:xfrm>
            <a:off x="6334109" y="2270123"/>
            <a:ext cx="4048125" cy="23177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5" name="Picture 24">
            <a:extLst>
              <a:ext uri="{FF2B5EF4-FFF2-40B4-BE49-F238E27FC236}">
                <a16:creationId xmlns:a16="http://schemas.microsoft.com/office/drawing/2014/main" id="{03E00CBE-AD0E-4235-936E-B1F00B46DBF4}"/>
              </a:ext>
            </a:extLst>
          </p:cNvPr>
          <p:cNvPicPr/>
          <p:nvPr/>
        </p:nvPicPr>
        <p:blipFill>
          <a:blip r:embed="rId11"/>
          <a:stretch>
            <a:fillRect/>
          </a:stretch>
        </p:blipFill>
        <p:spPr>
          <a:xfrm>
            <a:off x="5812710" y="2144712"/>
            <a:ext cx="4886325" cy="24415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6" name="Picture 25">
            <a:extLst>
              <a:ext uri="{FF2B5EF4-FFF2-40B4-BE49-F238E27FC236}">
                <a16:creationId xmlns:a16="http://schemas.microsoft.com/office/drawing/2014/main" id="{AB061796-FAFB-4B31-9DF7-345D2F2DC9DB}"/>
              </a:ext>
            </a:extLst>
          </p:cNvPr>
          <p:cNvPicPr/>
          <p:nvPr/>
        </p:nvPicPr>
        <p:blipFill>
          <a:blip r:embed="rId12"/>
          <a:stretch>
            <a:fillRect/>
          </a:stretch>
        </p:blipFill>
        <p:spPr>
          <a:xfrm>
            <a:off x="5783801" y="2109785"/>
            <a:ext cx="4853305" cy="26384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7" name="Picture 26">
            <a:extLst>
              <a:ext uri="{FF2B5EF4-FFF2-40B4-BE49-F238E27FC236}">
                <a16:creationId xmlns:a16="http://schemas.microsoft.com/office/drawing/2014/main" id="{BD0F9594-9038-4FB8-9E46-054D2BF84D59}"/>
              </a:ext>
            </a:extLst>
          </p:cNvPr>
          <p:cNvPicPr/>
          <p:nvPr/>
        </p:nvPicPr>
        <p:blipFill>
          <a:blip r:embed="rId13"/>
          <a:stretch>
            <a:fillRect/>
          </a:stretch>
        </p:blipFill>
        <p:spPr>
          <a:xfrm>
            <a:off x="6717141" y="2259963"/>
            <a:ext cx="3177540" cy="2407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8" name="Picture 27">
            <a:extLst>
              <a:ext uri="{FF2B5EF4-FFF2-40B4-BE49-F238E27FC236}">
                <a16:creationId xmlns:a16="http://schemas.microsoft.com/office/drawing/2014/main" id="{FD11144D-7815-4E34-B3D6-B304FE58E84B}"/>
              </a:ext>
            </a:extLst>
          </p:cNvPr>
          <p:cNvPicPr/>
          <p:nvPr/>
        </p:nvPicPr>
        <p:blipFill>
          <a:blip r:embed="rId14"/>
          <a:stretch>
            <a:fillRect/>
          </a:stretch>
        </p:blipFill>
        <p:spPr>
          <a:xfrm>
            <a:off x="6952876" y="1841033"/>
            <a:ext cx="1964055" cy="29260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9" name="Picture 28">
            <a:extLst>
              <a:ext uri="{FF2B5EF4-FFF2-40B4-BE49-F238E27FC236}">
                <a16:creationId xmlns:a16="http://schemas.microsoft.com/office/drawing/2014/main" id="{E5BBA647-B826-4DC4-B17E-5F8BFC6A9D1D}"/>
              </a:ext>
            </a:extLst>
          </p:cNvPr>
          <p:cNvPicPr/>
          <p:nvPr/>
        </p:nvPicPr>
        <p:blipFill>
          <a:blip r:embed="rId15"/>
          <a:stretch>
            <a:fillRect/>
          </a:stretch>
        </p:blipFill>
        <p:spPr>
          <a:xfrm>
            <a:off x="5812710" y="2200590"/>
            <a:ext cx="4953000" cy="24218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0" name="Picture 29">
            <a:extLst>
              <a:ext uri="{FF2B5EF4-FFF2-40B4-BE49-F238E27FC236}">
                <a16:creationId xmlns:a16="http://schemas.microsoft.com/office/drawing/2014/main" id="{731F4B7C-A903-4415-AAAF-6E78AFB5BE6D}"/>
              </a:ext>
            </a:extLst>
          </p:cNvPr>
          <p:cNvPicPr/>
          <p:nvPr/>
        </p:nvPicPr>
        <p:blipFill>
          <a:blip r:embed="rId16"/>
          <a:stretch>
            <a:fillRect/>
          </a:stretch>
        </p:blipFill>
        <p:spPr>
          <a:xfrm>
            <a:off x="6050517" y="2331563"/>
            <a:ext cx="4410710" cy="213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1" name="Picture 30">
            <a:extLst>
              <a:ext uri="{FF2B5EF4-FFF2-40B4-BE49-F238E27FC236}">
                <a16:creationId xmlns:a16="http://schemas.microsoft.com/office/drawing/2014/main" id="{FAF97210-BF0E-496B-85A6-25DBA100C741}"/>
              </a:ext>
            </a:extLst>
          </p:cNvPr>
          <p:cNvPicPr/>
          <p:nvPr/>
        </p:nvPicPr>
        <p:blipFill>
          <a:blip r:embed="rId17"/>
          <a:stretch>
            <a:fillRect/>
          </a:stretch>
        </p:blipFill>
        <p:spPr>
          <a:xfrm>
            <a:off x="6465489" y="2131059"/>
            <a:ext cx="3580765" cy="24688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2" name="Picture 31">
            <a:extLst>
              <a:ext uri="{FF2B5EF4-FFF2-40B4-BE49-F238E27FC236}">
                <a16:creationId xmlns:a16="http://schemas.microsoft.com/office/drawing/2014/main" id="{5D0115DB-4F47-46BC-B2BB-4A295A61D1A5}"/>
              </a:ext>
            </a:extLst>
          </p:cNvPr>
          <p:cNvPicPr/>
          <p:nvPr/>
        </p:nvPicPr>
        <p:blipFill>
          <a:blip r:embed="rId18"/>
          <a:stretch>
            <a:fillRect/>
          </a:stretch>
        </p:blipFill>
        <p:spPr>
          <a:xfrm>
            <a:off x="6069441" y="2146398"/>
            <a:ext cx="4472940" cy="23342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3" name="Picture 32">
            <a:extLst>
              <a:ext uri="{FF2B5EF4-FFF2-40B4-BE49-F238E27FC236}">
                <a16:creationId xmlns:a16="http://schemas.microsoft.com/office/drawing/2014/main" id="{ED64DA3A-5F5D-49FC-9DED-9F2DD6F89E88}"/>
              </a:ext>
            </a:extLst>
          </p:cNvPr>
          <p:cNvPicPr/>
          <p:nvPr/>
        </p:nvPicPr>
        <p:blipFill>
          <a:blip r:embed="rId19"/>
          <a:stretch>
            <a:fillRect/>
          </a:stretch>
        </p:blipFill>
        <p:spPr>
          <a:xfrm>
            <a:off x="6206493" y="1770478"/>
            <a:ext cx="4152900" cy="3086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4" name="Picture 33">
            <a:extLst>
              <a:ext uri="{FF2B5EF4-FFF2-40B4-BE49-F238E27FC236}">
                <a16:creationId xmlns:a16="http://schemas.microsoft.com/office/drawing/2014/main" id="{1723AE19-D114-4D9E-9C89-A94B658A6CD6}"/>
              </a:ext>
            </a:extLst>
          </p:cNvPr>
          <p:cNvPicPr/>
          <p:nvPr/>
        </p:nvPicPr>
        <p:blipFill>
          <a:blip r:embed="rId20"/>
          <a:stretch>
            <a:fillRect/>
          </a:stretch>
        </p:blipFill>
        <p:spPr>
          <a:xfrm>
            <a:off x="6330480" y="2200319"/>
            <a:ext cx="4010025" cy="19875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5" name="Picture 34">
            <a:extLst>
              <a:ext uri="{FF2B5EF4-FFF2-40B4-BE49-F238E27FC236}">
                <a16:creationId xmlns:a16="http://schemas.microsoft.com/office/drawing/2014/main" id="{C15B89C3-E3EE-4DA3-BDFB-46FB314F19BC}"/>
              </a:ext>
            </a:extLst>
          </p:cNvPr>
          <p:cNvPicPr/>
          <p:nvPr/>
        </p:nvPicPr>
        <p:blipFill>
          <a:blip r:embed="rId21"/>
          <a:stretch>
            <a:fillRect/>
          </a:stretch>
        </p:blipFill>
        <p:spPr>
          <a:xfrm>
            <a:off x="6603094" y="2286632"/>
            <a:ext cx="3521710" cy="1838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6" name="Picture 35">
            <a:extLst>
              <a:ext uri="{FF2B5EF4-FFF2-40B4-BE49-F238E27FC236}">
                <a16:creationId xmlns:a16="http://schemas.microsoft.com/office/drawing/2014/main" id="{6BA74B3F-1C22-4DB7-80F7-076C685DB28B}"/>
              </a:ext>
            </a:extLst>
          </p:cNvPr>
          <p:cNvPicPr/>
          <p:nvPr/>
        </p:nvPicPr>
        <p:blipFill>
          <a:blip r:embed="rId22"/>
          <a:stretch>
            <a:fillRect/>
          </a:stretch>
        </p:blipFill>
        <p:spPr>
          <a:xfrm>
            <a:off x="6438250" y="2201964"/>
            <a:ext cx="4048125" cy="2047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004278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1000" fill="hold"/>
                                        <p:tgtEl>
                                          <p:spTgt spid="18"/>
                                        </p:tgtEl>
                                        <p:attrNameLst>
                                          <p:attrName>ppt_x</p:attrName>
                                        </p:attrNameLst>
                                      </p:cBhvr>
                                      <p:tavLst>
                                        <p:tav tm="0">
                                          <p:val>
                                            <p:strVal val="#ppt_x"/>
                                          </p:val>
                                        </p:tav>
                                        <p:tav tm="100000">
                                          <p:val>
                                            <p:strVal val="#ppt_x"/>
                                          </p:val>
                                        </p:tav>
                                      </p:tavLst>
                                    </p:anim>
                                    <p:anim calcmode="lin" valueType="num">
                                      <p:cBhvr additive="base">
                                        <p:cTn id="8" dur="1000" fill="hold"/>
                                        <p:tgtEl>
                                          <p:spTgt spid="18"/>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1" presetClass="exit" presetSubtype="0" fill="hold" nodeType="afterEffect">
                                  <p:stCondLst>
                                    <p:cond delay="0"/>
                                  </p:stCondLst>
                                  <p:childTnLst>
                                    <p:set>
                                      <p:cBhvr>
                                        <p:cTn id="11" dur="1" fill="hold">
                                          <p:stCondLst>
                                            <p:cond delay="1999"/>
                                          </p:stCondLst>
                                        </p:cTn>
                                        <p:tgtEl>
                                          <p:spTgt spid="18"/>
                                        </p:tgtEl>
                                        <p:attrNameLst>
                                          <p:attrName>style.visibility</p:attrName>
                                        </p:attrNameLst>
                                      </p:cBhvr>
                                      <p:to>
                                        <p:strVal val="hidden"/>
                                      </p:to>
                                    </p:set>
                                  </p:childTnLst>
                                </p:cTn>
                              </p:par>
                            </p:childTnLst>
                          </p:cTn>
                        </p:par>
                        <p:par>
                          <p:cTn id="12" fill="hold">
                            <p:stCondLst>
                              <p:cond delay="3000"/>
                            </p:stCondLst>
                            <p:childTnLst>
                              <p:par>
                                <p:cTn id="13" presetID="2" presetClass="entr" presetSubtype="4"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ppt_x"/>
                                          </p:val>
                                        </p:tav>
                                        <p:tav tm="100000">
                                          <p:val>
                                            <p:strVal val="#ppt_x"/>
                                          </p:val>
                                        </p:tav>
                                      </p:tavLst>
                                    </p:anim>
                                    <p:anim calcmode="lin" valueType="num">
                                      <p:cBhvr additive="base">
                                        <p:cTn id="16" dur="1000" fill="hold"/>
                                        <p:tgtEl>
                                          <p:spTgt spid="19"/>
                                        </p:tgtEl>
                                        <p:attrNameLst>
                                          <p:attrName>ppt_y</p:attrName>
                                        </p:attrNameLst>
                                      </p:cBhvr>
                                      <p:tavLst>
                                        <p:tav tm="0">
                                          <p:val>
                                            <p:strVal val="1+#ppt_h/2"/>
                                          </p:val>
                                        </p:tav>
                                        <p:tav tm="100000">
                                          <p:val>
                                            <p:strVal val="#ppt_y"/>
                                          </p:val>
                                        </p:tav>
                                      </p:tavLst>
                                    </p:anim>
                                  </p:childTnLst>
                                </p:cTn>
                              </p:par>
                            </p:childTnLst>
                          </p:cTn>
                        </p:par>
                        <p:par>
                          <p:cTn id="17" fill="hold">
                            <p:stCondLst>
                              <p:cond delay="4000"/>
                            </p:stCondLst>
                            <p:childTnLst>
                              <p:par>
                                <p:cTn id="18" presetID="1" presetClass="exit" presetSubtype="0" fill="hold" nodeType="afterEffect">
                                  <p:stCondLst>
                                    <p:cond delay="0"/>
                                  </p:stCondLst>
                                  <p:childTnLst>
                                    <p:set>
                                      <p:cBhvr>
                                        <p:cTn id="19" dur="1" fill="hold">
                                          <p:stCondLst>
                                            <p:cond delay="1999"/>
                                          </p:stCondLst>
                                        </p:cTn>
                                        <p:tgtEl>
                                          <p:spTgt spid="19"/>
                                        </p:tgtEl>
                                        <p:attrNameLst>
                                          <p:attrName>style.visibility</p:attrName>
                                        </p:attrNameLst>
                                      </p:cBhvr>
                                      <p:to>
                                        <p:strVal val="hidden"/>
                                      </p:to>
                                    </p:set>
                                  </p:childTnLst>
                                </p:cTn>
                              </p:par>
                            </p:childTnLst>
                          </p:cTn>
                        </p:par>
                        <p:par>
                          <p:cTn id="20" fill="hold">
                            <p:stCondLst>
                              <p:cond delay="6000"/>
                            </p:stCondLst>
                            <p:childTnLst>
                              <p:par>
                                <p:cTn id="21" presetID="2" presetClass="entr" presetSubtype="4"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1000" fill="hold"/>
                                        <p:tgtEl>
                                          <p:spTgt spid="20"/>
                                        </p:tgtEl>
                                        <p:attrNameLst>
                                          <p:attrName>ppt_x</p:attrName>
                                        </p:attrNameLst>
                                      </p:cBhvr>
                                      <p:tavLst>
                                        <p:tav tm="0">
                                          <p:val>
                                            <p:strVal val="#ppt_x"/>
                                          </p:val>
                                        </p:tav>
                                        <p:tav tm="100000">
                                          <p:val>
                                            <p:strVal val="#ppt_x"/>
                                          </p:val>
                                        </p:tav>
                                      </p:tavLst>
                                    </p:anim>
                                    <p:anim calcmode="lin" valueType="num">
                                      <p:cBhvr additive="base">
                                        <p:cTn id="24" dur="1000" fill="hold"/>
                                        <p:tgtEl>
                                          <p:spTgt spid="20"/>
                                        </p:tgtEl>
                                        <p:attrNameLst>
                                          <p:attrName>ppt_y</p:attrName>
                                        </p:attrNameLst>
                                      </p:cBhvr>
                                      <p:tavLst>
                                        <p:tav tm="0">
                                          <p:val>
                                            <p:strVal val="1+#ppt_h/2"/>
                                          </p:val>
                                        </p:tav>
                                        <p:tav tm="100000">
                                          <p:val>
                                            <p:strVal val="#ppt_y"/>
                                          </p:val>
                                        </p:tav>
                                      </p:tavLst>
                                    </p:anim>
                                  </p:childTnLst>
                                </p:cTn>
                              </p:par>
                            </p:childTnLst>
                          </p:cTn>
                        </p:par>
                        <p:par>
                          <p:cTn id="25" fill="hold">
                            <p:stCondLst>
                              <p:cond delay="7000"/>
                            </p:stCondLst>
                            <p:childTnLst>
                              <p:par>
                                <p:cTn id="26" presetID="1" presetClass="exit" presetSubtype="0" fill="hold" nodeType="afterEffect">
                                  <p:stCondLst>
                                    <p:cond delay="0"/>
                                  </p:stCondLst>
                                  <p:childTnLst>
                                    <p:set>
                                      <p:cBhvr>
                                        <p:cTn id="27" dur="1" fill="hold">
                                          <p:stCondLst>
                                            <p:cond delay="1999"/>
                                          </p:stCondLst>
                                        </p:cTn>
                                        <p:tgtEl>
                                          <p:spTgt spid="20"/>
                                        </p:tgtEl>
                                        <p:attrNameLst>
                                          <p:attrName>style.visibility</p:attrName>
                                        </p:attrNameLst>
                                      </p:cBhvr>
                                      <p:to>
                                        <p:strVal val="hidden"/>
                                      </p:to>
                                    </p:set>
                                  </p:childTnLst>
                                </p:cTn>
                              </p:par>
                            </p:childTnLst>
                          </p:cTn>
                        </p:par>
                        <p:par>
                          <p:cTn id="28" fill="hold">
                            <p:stCondLst>
                              <p:cond delay="9000"/>
                            </p:stCondLst>
                            <p:childTnLst>
                              <p:par>
                                <p:cTn id="29" presetID="2" presetClass="entr" presetSubtype="4"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1000" fill="hold"/>
                                        <p:tgtEl>
                                          <p:spTgt spid="21"/>
                                        </p:tgtEl>
                                        <p:attrNameLst>
                                          <p:attrName>ppt_x</p:attrName>
                                        </p:attrNameLst>
                                      </p:cBhvr>
                                      <p:tavLst>
                                        <p:tav tm="0">
                                          <p:val>
                                            <p:strVal val="#ppt_x"/>
                                          </p:val>
                                        </p:tav>
                                        <p:tav tm="100000">
                                          <p:val>
                                            <p:strVal val="#ppt_x"/>
                                          </p:val>
                                        </p:tav>
                                      </p:tavLst>
                                    </p:anim>
                                    <p:anim calcmode="lin" valueType="num">
                                      <p:cBhvr additive="base">
                                        <p:cTn id="32" dur="1000" fill="hold"/>
                                        <p:tgtEl>
                                          <p:spTgt spid="21"/>
                                        </p:tgtEl>
                                        <p:attrNameLst>
                                          <p:attrName>ppt_y</p:attrName>
                                        </p:attrNameLst>
                                      </p:cBhvr>
                                      <p:tavLst>
                                        <p:tav tm="0">
                                          <p:val>
                                            <p:strVal val="1+#ppt_h/2"/>
                                          </p:val>
                                        </p:tav>
                                        <p:tav tm="100000">
                                          <p:val>
                                            <p:strVal val="#ppt_y"/>
                                          </p:val>
                                        </p:tav>
                                      </p:tavLst>
                                    </p:anim>
                                  </p:childTnLst>
                                </p:cTn>
                              </p:par>
                            </p:childTnLst>
                          </p:cTn>
                        </p:par>
                        <p:par>
                          <p:cTn id="33" fill="hold">
                            <p:stCondLst>
                              <p:cond delay="10000"/>
                            </p:stCondLst>
                            <p:childTnLst>
                              <p:par>
                                <p:cTn id="34" presetID="1" presetClass="exit" presetSubtype="0" fill="hold" nodeType="afterEffect">
                                  <p:stCondLst>
                                    <p:cond delay="0"/>
                                  </p:stCondLst>
                                  <p:childTnLst>
                                    <p:set>
                                      <p:cBhvr>
                                        <p:cTn id="35" dur="1" fill="hold">
                                          <p:stCondLst>
                                            <p:cond delay="1999"/>
                                          </p:stCondLst>
                                        </p:cTn>
                                        <p:tgtEl>
                                          <p:spTgt spid="21"/>
                                        </p:tgtEl>
                                        <p:attrNameLst>
                                          <p:attrName>style.visibility</p:attrName>
                                        </p:attrNameLst>
                                      </p:cBhvr>
                                      <p:to>
                                        <p:strVal val="hidden"/>
                                      </p:to>
                                    </p:set>
                                  </p:childTnLst>
                                </p:cTn>
                              </p:par>
                            </p:childTnLst>
                          </p:cTn>
                        </p:par>
                        <p:par>
                          <p:cTn id="36" fill="hold">
                            <p:stCondLst>
                              <p:cond delay="12000"/>
                            </p:stCondLst>
                            <p:childTnLst>
                              <p:par>
                                <p:cTn id="37" presetID="2" presetClass="entr" presetSubtype="4"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1000" fill="hold"/>
                                        <p:tgtEl>
                                          <p:spTgt spid="22"/>
                                        </p:tgtEl>
                                        <p:attrNameLst>
                                          <p:attrName>ppt_x</p:attrName>
                                        </p:attrNameLst>
                                      </p:cBhvr>
                                      <p:tavLst>
                                        <p:tav tm="0">
                                          <p:val>
                                            <p:strVal val="#ppt_x"/>
                                          </p:val>
                                        </p:tav>
                                        <p:tav tm="100000">
                                          <p:val>
                                            <p:strVal val="#ppt_x"/>
                                          </p:val>
                                        </p:tav>
                                      </p:tavLst>
                                    </p:anim>
                                    <p:anim calcmode="lin" valueType="num">
                                      <p:cBhvr additive="base">
                                        <p:cTn id="40" dur="1000" fill="hold"/>
                                        <p:tgtEl>
                                          <p:spTgt spid="22"/>
                                        </p:tgtEl>
                                        <p:attrNameLst>
                                          <p:attrName>ppt_y</p:attrName>
                                        </p:attrNameLst>
                                      </p:cBhvr>
                                      <p:tavLst>
                                        <p:tav tm="0">
                                          <p:val>
                                            <p:strVal val="1+#ppt_h/2"/>
                                          </p:val>
                                        </p:tav>
                                        <p:tav tm="100000">
                                          <p:val>
                                            <p:strVal val="#ppt_y"/>
                                          </p:val>
                                        </p:tav>
                                      </p:tavLst>
                                    </p:anim>
                                  </p:childTnLst>
                                </p:cTn>
                              </p:par>
                            </p:childTnLst>
                          </p:cTn>
                        </p:par>
                        <p:par>
                          <p:cTn id="41" fill="hold">
                            <p:stCondLst>
                              <p:cond delay="13000"/>
                            </p:stCondLst>
                            <p:childTnLst>
                              <p:par>
                                <p:cTn id="42" presetID="1" presetClass="exit" presetSubtype="0" fill="hold" nodeType="afterEffect">
                                  <p:stCondLst>
                                    <p:cond delay="0"/>
                                  </p:stCondLst>
                                  <p:childTnLst>
                                    <p:set>
                                      <p:cBhvr>
                                        <p:cTn id="43" dur="1" fill="hold">
                                          <p:stCondLst>
                                            <p:cond delay="1999"/>
                                          </p:stCondLst>
                                        </p:cTn>
                                        <p:tgtEl>
                                          <p:spTgt spid="22"/>
                                        </p:tgtEl>
                                        <p:attrNameLst>
                                          <p:attrName>style.visibility</p:attrName>
                                        </p:attrNameLst>
                                      </p:cBhvr>
                                      <p:to>
                                        <p:strVal val="hidden"/>
                                      </p:to>
                                    </p:set>
                                  </p:childTnLst>
                                </p:cTn>
                              </p:par>
                            </p:childTnLst>
                          </p:cTn>
                        </p:par>
                        <p:par>
                          <p:cTn id="44" fill="hold">
                            <p:stCondLst>
                              <p:cond delay="15000"/>
                            </p:stCondLst>
                            <p:childTnLst>
                              <p:par>
                                <p:cTn id="45" presetID="2" presetClass="entr" presetSubtype="4"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1000" fill="hold"/>
                                        <p:tgtEl>
                                          <p:spTgt spid="23"/>
                                        </p:tgtEl>
                                        <p:attrNameLst>
                                          <p:attrName>ppt_x</p:attrName>
                                        </p:attrNameLst>
                                      </p:cBhvr>
                                      <p:tavLst>
                                        <p:tav tm="0">
                                          <p:val>
                                            <p:strVal val="#ppt_x"/>
                                          </p:val>
                                        </p:tav>
                                        <p:tav tm="100000">
                                          <p:val>
                                            <p:strVal val="#ppt_x"/>
                                          </p:val>
                                        </p:tav>
                                      </p:tavLst>
                                    </p:anim>
                                    <p:anim calcmode="lin" valueType="num">
                                      <p:cBhvr additive="base">
                                        <p:cTn id="48" dur="1000" fill="hold"/>
                                        <p:tgtEl>
                                          <p:spTgt spid="23"/>
                                        </p:tgtEl>
                                        <p:attrNameLst>
                                          <p:attrName>ppt_y</p:attrName>
                                        </p:attrNameLst>
                                      </p:cBhvr>
                                      <p:tavLst>
                                        <p:tav tm="0">
                                          <p:val>
                                            <p:strVal val="1+#ppt_h/2"/>
                                          </p:val>
                                        </p:tav>
                                        <p:tav tm="100000">
                                          <p:val>
                                            <p:strVal val="#ppt_y"/>
                                          </p:val>
                                        </p:tav>
                                      </p:tavLst>
                                    </p:anim>
                                  </p:childTnLst>
                                </p:cTn>
                              </p:par>
                            </p:childTnLst>
                          </p:cTn>
                        </p:par>
                        <p:par>
                          <p:cTn id="49" fill="hold">
                            <p:stCondLst>
                              <p:cond delay="16000"/>
                            </p:stCondLst>
                            <p:childTnLst>
                              <p:par>
                                <p:cTn id="50" presetID="1" presetClass="exit" presetSubtype="0" fill="hold" nodeType="afterEffect">
                                  <p:stCondLst>
                                    <p:cond delay="0"/>
                                  </p:stCondLst>
                                  <p:childTnLst>
                                    <p:set>
                                      <p:cBhvr>
                                        <p:cTn id="51" dur="1" fill="hold">
                                          <p:stCondLst>
                                            <p:cond delay="1999"/>
                                          </p:stCondLst>
                                        </p:cTn>
                                        <p:tgtEl>
                                          <p:spTgt spid="23"/>
                                        </p:tgtEl>
                                        <p:attrNameLst>
                                          <p:attrName>style.visibility</p:attrName>
                                        </p:attrNameLst>
                                      </p:cBhvr>
                                      <p:to>
                                        <p:strVal val="hidden"/>
                                      </p:to>
                                    </p:set>
                                  </p:childTnLst>
                                </p:cTn>
                              </p:par>
                            </p:childTnLst>
                          </p:cTn>
                        </p:par>
                        <p:par>
                          <p:cTn id="52" fill="hold">
                            <p:stCondLst>
                              <p:cond delay="18000"/>
                            </p:stCondLst>
                            <p:childTnLst>
                              <p:par>
                                <p:cTn id="53" presetID="2" presetClass="entr" presetSubtype="4" fill="hold" nodeType="after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1000" fill="hold"/>
                                        <p:tgtEl>
                                          <p:spTgt spid="24"/>
                                        </p:tgtEl>
                                        <p:attrNameLst>
                                          <p:attrName>ppt_x</p:attrName>
                                        </p:attrNameLst>
                                      </p:cBhvr>
                                      <p:tavLst>
                                        <p:tav tm="0">
                                          <p:val>
                                            <p:strVal val="#ppt_x"/>
                                          </p:val>
                                        </p:tav>
                                        <p:tav tm="100000">
                                          <p:val>
                                            <p:strVal val="#ppt_x"/>
                                          </p:val>
                                        </p:tav>
                                      </p:tavLst>
                                    </p:anim>
                                    <p:anim calcmode="lin" valueType="num">
                                      <p:cBhvr additive="base">
                                        <p:cTn id="56" dur="1000" fill="hold"/>
                                        <p:tgtEl>
                                          <p:spTgt spid="24"/>
                                        </p:tgtEl>
                                        <p:attrNameLst>
                                          <p:attrName>ppt_y</p:attrName>
                                        </p:attrNameLst>
                                      </p:cBhvr>
                                      <p:tavLst>
                                        <p:tav tm="0">
                                          <p:val>
                                            <p:strVal val="1+#ppt_h/2"/>
                                          </p:val>
                                        </p:tav>
                                        <p:tav tm="100000">
                                          <p:val>
                                            <p:strVal val="#ppt_y"/>
                                          </p:val>
                                        </p:tav>
                                      </p:tavLst>
                                    </p:anim>
                                  </p:childTnLst>
                                </p:cTn>
                              </p:par>
                            </p:childTnLst>
                          </p:cTn>
                        </p:par>
                        <p:par>
                          <p:cTn id="57" fill="hold">
                            <p:stCondLst>
                              <p:cond delay="19000"/>
                            </p:stCondLst>
                            <p:childTnLst>
                              <p:par>
                                <p:cTn id="58" presetID="1" presetClass="exit" presetSubtype="0" fill="hold" nodeType="afterEffect">
                                  <p:stCondLst>
                                    <p:cond delay="0"/>
                                  </p:stCondLst>
                                  <p:childTnLst>
                                    <p:set>
                                      <p:cBhvr>
                                        <p:cTn id="59" dur="1" fill="hold">
                                          <p:stCondLst>
                                            <p:cond delay="1999"/>
                                          </p:stCondLst>
                                        </p:cTn>
                                        <p:tgtEl>
                                          <p:spTgt spid="24"/>
                                        </p:tgtEl>
                                        <p:attrNameLst>
                                          <p:attrName>style.visibility</p:attrName>
                                        </p:attrNameLst>
                                      </p:cBhvr>
                                      <p:to>
                                        <p:strVal val="hidden"/>
                                      </p:to>
                                    </p:set>
                                  </p:childTnLst>
                                </p:cTn>
                              </p:par>
                            </p:childTnLst>
                          </p:cTn>
                        </p:par>
                        <p:par>
                          <p:cTn id="60" fill="hold">
                            <p:stCondLst>
                              <p:cond delay="21000"/>
                            </p:stCondLst>
                            <p:childTnLst>
                              <p:par>
                                <p:cTn id="61" presetID="2" presetClass="entr" presetSubtype="4" fill="hold" nodeType="after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additive="base">
                                        <p:cTn id="63" dur="1000" fill="hold"/>
                                        <p:tgtEl>
                                          <p:spTgt spid="25"/>
                                        </p:tgtEl>
                                        <p:attrNameLst>
                                          <p:attrName>ppt_x</p:attrName>
                                        </p:attrNameLst>
                                      </p:cBhvr>
                                      <p:tavLst>
                                        <p:tav tm="0">
                                          <p:val>
                                            <p:strVal val="#ppt_x"/>
                                          </p:val>
                                        </p:tav>
                                        <p:tav tm="100000">
                                          <p:val>
                                            <p:strVal val="#ppt_x"/>
                                          </p:val>
                                        </p:tav>
                                      </p:tavLst>
                                    </p:anim>
                                    <p:anim calcmode="lin" valueType="num">
                                      <p:cBhvr additive="base">
                                        <p:cTn id="64" dur="1000" fill="hold"/>
                                        <p:tgtEl>
                                          <p:spTgt spid="25"/>
                                        </p:tgtEl>
                                        <p:attrNameLst>
                                          <p:attrName>ppt_y</p:attrName>
                                        </p:attrNameLst>
                                      </p:cBhvr>
                                      <p:tavLst>
                                        <p:tav tm="0">
                                          <p:val>
                                            <p:strVal val="1+#ppt_h/2"/>
                                          </p:val>
                                        </p:tav>
                                        <p:tav tm="100000">
                                          <p:val>
                                            <p:strVal val="#ppt_y"/>
                                          </p:val>
                                        </p:tav>
                                      </p:tavLst>
                                    </p:anim>
                                  </p:childTnLst>
                                </p:cTn>
                              </p:par>
                            </p:childTnLst>
                          </p:cTn>
                        </p:par>
                        <p:par>
                          <p:cTn id="65" fill="hold">
                            <p:stCondLst>
                              <p:cond delay="22000"/>
                            </p:stCondLst>
                            <p:childTnLst>
                              <p:par>
                                <p:cTn id="66" presetID="1" presetClass="exit" presetSubtype="0" fill="hold" nodeType="afterEffect">
                                  <p:stCondLst>
                                    <p:cond delay="0"/>
                                  </p:stCondLst>
                                  <p:childTnLst>
                                    <p:set>
                                      <p:cBhvr>
                                        <p:cTn id="67" dur="1" fill="hold">
                                          <p:stCondLst>
                                            <p:cond delay="1999"/>
                                          </p:stCondLst>
                                        </p:cTn>
                                        <p:tgtEl>
                                          <p:spTgt spid="25"/>
                                        </p:tgtEl>
                                        <p:attrNameLst>
                                          <p:attrName>style.visibility</p:attrName>
                                        </p:attrNameLst>
                                      </p:cBhvr>
                                      <p:to>
                                        <p:strVal val="hidden"/>
                                      </p:to>
                                    </p:set>
                                  </p:childTnLst>
                                </p:cTn>
                              </p:par>
                            </p:childTnLst>
                          </p:cTn>
                        </p:par>
                        <p:par>
                          <p:cTn id="68" fill="hold">
                            <p:stCondLst>
                              <p:cond delay="24000"/>
                            </p:stCondLst>
                            <p:childTnLst>
                              <p:par>
                                <p:cTn id="69" presetID="2" presetClass="entr" presetSubtype="4" fill="hold" nodeType="after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1000" fill="hold"/>
                                        <p:tgtEl>
                                          <p:spTgt spid="26"/>
                                        </p:tgtEl>
                                        <p:attrNameLst>
                                          <p:attrName>ppt_x</p:attrName>
                                        </p:attrNameLst>
                                      </p:cBhvr>
                                      <p:tavLst>
                                        <p:tav tm="0">
                                          <p:val>
                                            <p:strVal val="#ppt_x"/>
                                          </p:val>
                                        </p:tav>
                                        <p:tav tm="100000">
                                          <p:val>
                                            <p:strVal val="#ppt_x"/>
                                          </p:val>
                                        </p:tav>
                                      </p:tavLst>
                                    </p:anim>
                                    <p:anim calcmode="lin" valueType="num">
                                      <p:cBhvr additive="base">
                                        <p:cTn id="72" dur="1000" fill="hold"/>
                                        <p:tgtEl>
                                          <p:spTgt spid="26"/>
                                        </p:tgtEl>
                                        <p:attrNameLst>
                                          <p:attrName>ppt_y</p:attrName>
                                        </p:attrNameLst>
                                      </p:cBhvr>
                                      <p:tavLst>
                                        <p:tav tm="0">
                                          <p:val>
                                            <p:strVal val="1+#ppt_h/2"/>
                                          </p:val>
                                        </p:tav>
                                        <p:tav tm="100000">
                                          <p:val>
                                            <p:strVal val="#ppt_y"/>
                                          </p:val>
                                        </p:tav>
                                      </p:tavLst>
                                    </p:anim>
                                  </p:childTnLst>
                                </p:cTn>
                              </p:par>
                            </p:childTnLst>
                          </p:cTn>
                        </p:par>
                        <p:par>
                          <p:cTn id="73" fill="hold">
                            <p:stCondLst>
                              <p:cond delay="25000"/>
                            </p:stCondLst>
                            <p:childTnLst>
                              <p:par>
                                <p:cTn id="74" presetID="1" presetClass="exit" presetSubtype="0" fill="hold" nodeType="afterEffect">
                                  <p:stCondLst>
                                    <p:cond delay="0"/>
                                  </p:stCondLst>
                                  <p:childTnLst>
                                    <p:set>
                                      <p:cBhvr>
                                        <p:cTn id="75" dur="1" fill="hold">
                                          <p:stCondLst>
                                            <p:cond delay="1999"/>
                                          </p:stCondLst>
                                        </p:cTn>
                                        <p:tgtEl>
                                          <p:spTgt spid="26"/>
                                        </p:tgtEl>
                                        <p:attrNameLst>
                                          <p:attrName>style.visibility</p:attrName>
                                        </p:attrNameLst>
                                      </p:cBhvr>
                                      <p:to>
                                        <p:strVal val="hidden"/>
                                      </p:to>
                                    </p:set>
                                  </p:childTnLst>
                                </p:cTn>
                              </p:par>
                            </p:childTnLst>
                          </p:cTn>
                        </p:par>
                        <p:par>
                          <p:cTn id="76" fill="hold">
                            <p:stCondLst>
                              <p:cond delay="27000"/>
                            </p:stCondLst>
                            <p:childTnLst>
                              <p:par>
                                <p:cTn id="77" presetID="2" presetClass="entr" presetSubtype="4" fill="hold" nodeType="afterEffect">
                                  <p:stCondLst>
                                    <p:cond delay="0"/>
                                  </p:stCondLst>
                                  <p:childTnLst>
                                    <p:set>
                                      <p:cBhvr>
                                        <p:cTn id="78" dur="1" fill="hold">
                                          <p:stCondLst>
                                            <p:cond delay="0"/>
                                          </p:stCondLst>
                                        </p:cTn>
                                        <p:tgtEl>
                                          <p:spTgt spid="27"/>
                                        </p:tgtEl>
                                        <p:attrNameLst>
                                          <p:attrName>style.visibility</p:attrName>
                                        </p:attrNameLst>
                                      </p:cBhvr>
                                      <p:to>
                                        <p:strVal val="visible"/>
                                      </p:to>
                                    </p:set>
                                    <p:anim calcmode="lin" valueType="num">
                                      <p:cBhvr additive="base">
                                        <p:cTn id="79" dur="1000" fill="hold"/>
                                        <p:tgtEl>
                                          <p:spTgt spid="27"/>
                                        </p:tgtEl>
                                        <p:attrNameLst>
                                          <p:attrName>ppt_x</p:attrName>
                                        </p:attrNameLst>
                                      </p:cBhvr>
                                      <p:tavLst>
                                        <p:tav tm="0">
                                          <p:val>
                                            <p:strVal val="#ppt_x"/>
                                          </p:val>
                                        </p:tav>
                                        <p:tav tm="100000">
                                          <p:val>
                                            <p:strVal val="#ppt_x"/>
                                          </p:val>
                                        </p:tav>
                                      </p:tavLst>
                                    </p:anim>
                                    <p:anim calcmode="lin" valueType="num">
                                      <p:cBhvr additive="base">
                                        <p:cTn id="80" dur="1000" fill="hold"/>
                                        <p:tgtEl>
                                          <p:spTgt spid="27"/>
                                        </p:tgtEl>
                                        <p:attrNameLst>
                                          <p:attrName>ppt_y</p:attrName>
                                        </p:attrNameLst>
                                      </p:cBhvr>
                                      <p:tavLst>
                                        <p:tav tm="0">
                                          <p:val>
                                            <p:strVal val="1+#ppt_h/2"/>
                                          </p:val>
                                        </p:tav>
                                        <p:tav tm="100000">
                                          <p:val>
                                            <p:strVal val="#ppt_y"/>
                                          </p:val>
                                        </p:tav>
                                      </p:tavLst>
                                    </p:anim>
                                  </p:childTnLst>
                                </p:cTn>
                              </p:par>
                            </p:childTnLst>
                          </p:cTn>
                        </p:par>
                        <p:par>
                          <p:cTn id="81" fill="hold">
                            <p:stCondLst>
                              <p:cond delay="28000"/>
                            </p:stCondLst>
                            <p:childTnLst>
                              <p:par>
                                <p:cTn id="82" presetID="1" presetClass="exit" presetSubtype="0" fill="hold" nodeType="afterEffect">
                                  <p:stCondLst>
                                    <p:cond delay="0"/>
                                  </p:stCondLst>
                                  <p:childTnLst>
                                    <p:set>
                                      <p:cBhvr>
                                        <p:cTn id="83" dur="1" fill="hold">
                                          <p:stCondLst>
                                            <p:cond delay="1999"/>
                                          </p:stCondLst>
                                        </p:cTn>
                                        <p:tgtEl>
                                          <p:spTgt spid="27"/>
                                        </p:tgtEl>
                                        <p:attrNameLst>
                                          <p:attrName>style.visibility</p:attrName>
                                        </p:attrNameLst>
                                      </p:cBhvr>
                                      <p:to>
                                        <p:strVal val="hidden"/>
                                      </p:to>
                                    </p:set>
                                  </p:childTnLst>
                                </p:cTn>
                              </p:par>
                            </p:childTnLst>
                          </p:cTn>
                        </p:par>
                        <p:par>
                          <p:cTn id="84" fill="hold">
                            <p:stCondLst>
                              <p:cond delay="30000"/>
                            </p:stCondLst>
                            <p:childTnLst>
                              <p:par>
                                <p:cTn id="85" presetID="2" presetClass="entr" presetSubtype="4"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1000" fill="hold"/>
                                        <p:tgtEl>
                                          <p:spTgt spid="28"/>
                                        </p:tgtEl>
                                        <p:attrNameLst>
                                          <p:attrName>ppt_x</p:attrName>
                                        </p:attrNameLst>
                                      </p:cBhvr>
                                      <p:tavLst>
                                        <p:tav tm="0">
                                          <p:val>
                                            <p:strVal val="#ppt_x"/>
                                          </p:val>
                                        </p:tav>
                                        <p:tav tm="100000">
                                          <p:val>
                                            <p:strVal val="#ppt_x"/>
                                          </p:val>
                                        </p:tav>
                                      </p:tavLst>
                                    </p:anim>
                                    <p:anim calcmode="lin" valueType="num">
                                      <p:cBhvr additive="base">
                                        <p:cTn id="88" dur="1000" fill="hold"/>
                                        <p:tgtEl>
                                          <p:spTgt spid="28"/>
                                        </p:tgtEl>
                                        <p:attrNameLst>
                                          <p:attrName>ppt_y</p:attrName>
                                        </p:attrNameLst>
                                      </p:cBhvr>
                                      <p:tavLst>
                                        <p:tav tm="0">
                                          <p:val>
                                            <p:strVal val="1+#ppt_h/2"/>
                                          </p:val>
                                        </p:tav>
                                        <p:tav tm="100000">
                                          <p:val>
                                            <p:strVal val="#ppt_y"/>
                                          </p:val>
                                        </p:tav>
                                      </p:tavLst>
                                    </p:anim>
                                  </p:childTnLst>
                                </p:cTn>
                              </p:par>
                            </p:childTnLst>
                          </p:cTn>
                        </p:par>
                        <p:par>
                          <p:cTn id="89" fill="hold">
                            <p:stCondLst>
                              <p:cond delay="31000"/>
                            </p:stCondLst>
                            <p:childTnLst>
                              <p:par>
                                <p:cTn id="90" presetID="1" presetClass="exit" presetSubtype="0" fill="hold" nodeType="afterEffect">
                                  <p:stCondLst>
                                    <p:cond delay="0"/>
                                  </p:stCondLst>
                                  <p:childTnLst>
                                    <p:set>
                                      <p:cBhvr>
                                        <p:cTn id="91" dur="1" fill="hold">
                                          <p:stCondLst>
                                            <p:cond delay="1999"/>
                                          </p:stCondLst>
                                        </p:cTn>
                                        <p:tgtEl>
                                          <p:spTgt spid="28"/>
                                        </p:tgtEl>
                                        <p:attrNameLst>
                                          <p:attrName>style.visibility</p:attrName>
                                        </p:attrNameLst>
                                      </p:cBhvr>
                                      <p:to>
                                        <p:strVal val="hidden"/>
                                      </p:to>
                                    </p:set>
                                  </p:childTnLst>
                                </p:cTn>
                              </p:par>
                            </p:childTnLst>
                          </p:cTn>
                        </p:par>
                        <p:par>
                          <p:cTn id="92" fill="hold">
                            <p:stCondLst>
                              <p:cond delay="33000"/>
                            </p:stCondLst>
                            <p:childTnLst>
                              <p:par>
                                <p:cTn id="93" presetID="2" presetClass="entr" presetSubtype="4" fill="hold" nodeType="afterEffect">
                                  <p:stCondLst>
                                    <p:cond delay="0"/>
                                  </p:stCondLst>
                                  <p:childTnLst>
                                    <p:set>
                                      <p:cBhvr>
                                        <p:cTn id="94" dur="1" fill="hold">
                                          <p:stCondLst>
                                            <p:cond delay="0"/>
                                          </p:stCondLst>
                                        </p:cTn>
                                        <p:tgtEl>
                                          <p:spTgt spid="29"/>
                                        </p:tgtEl>
                                        <p:attrNameLst>
                                          <p:attrName>style.visibility</p:attrName>
                                        </p:attrNameLst>
                                      </p:cBhvr>
                                      <p:to>
                                        <p:strVal val="visible"/>
                                      </p:to>
                                    </p:set>
                                    <p:anim calcmode="lin" valueType="num">
                                      <p:cBhvr additive="base">
                                        <p:cTn id="95" dur="1000" fill="hold"/>
                                        <p:tgtEl>
                                          <p:spTgt spid="29"/>
                                        </p:tgtEl>
                                        <p:attrNameLst>
                                          <p:attrName>ppt_x</p:attrName>
                                        </p:attrNameLst>
                                      </p:cBhvr>
                                      <p:tavLst>
                                        <p:tav tm="0">
                                          <p:val>
                                            <p:strVal val="#ppt_x"/>
                                          </p:val>
                                        </p:tav>
                                        <p:tav tm="100000">
                                          <p:val>
                                            <p:strVal val="#ppt_x"/>
                                          </p:val>
                                        </p:tav>
                                      </p:tavLst>
                                    </p:anim>
                                    <p:anim calcmode="lin" valueType="num">
                                      <p:cBhvr additive="base">
                                        <p:cTn id="96" dur="1000" fill="hold"/>
                                        <p:tgtEl>
                                          <p:spTgt spid="29"/>
                                        </p:tgtEl>
                                        <p:attrNameLst>
                                          <p:attrName>ppt_y</p:attrName>
                                        </p:attrNameLst>
                                      </p:cBhvr>
                                      <p:tavLst>
                                        <p:tav tm="0">
                                          <p:val>
                                            <p:strVal val="1+#ppt_h/2"/>
                                          </p:val>
                                        </p:tav>
                                        <p:tav tm="100000">
                                          <p:val>
                                            <p:strVal val="#ppt_y"/>
                                          </p:val>
                                        </p:tav>
                                      </p:tavLst>
                                    </p:anim>
                                  </p:childTnLst>
                                </p:cTn>
                              </p:par>
                            </p:childTnLst>
                          </p:cTn>
                        </p:par>
                        <p:par>
                          <p:cTn id="97" fill="hold">
                            <p:stCondLst>
                              <p:cond delay="34000"/>
                            </p:stCondLst>
                            <p:childTnLst>
                              <p:par>
                                <p:cTn id="98" presetID="1" presetClass="exit" presetSubtype="0" fill="hold" nodeType="afterEffect">
                                  <p:stCondLst>
                                    <p:cond delay="0"/>
                                  </p:stCondLst>
                                  <p:childTnLst>
                                    <p:set>
                                      <p:cBhvr>
                                        <p:cTn id="99" dur="1" fill="hold">
                                          <p:stCondLst>
                                            <p:cond delay="1999"/>
                                          </p:stCondLst>
                                        </p:cTn>
                                        <p:tgtEl>
                                          <p:spTgt spid="29"/>
                                        </p:tgtEl>
                                        <p:attrNameLst>
                                          <p:attrName>style.visibility</p:attrName>
                                        </p:attrNameLst>
                                      </p:cBhvr>
                                      <p:to>
                                        <p:strVal val="hidden"/>
                                      </p:to>
                                    </p:set>
                                  </p:childTnLst>
                                </p:cTn>
                              </p:par>
                            </p:childTnLst>
                          </p:cTn>
                        </p:par>
                        <p:par>
                          <p:cTn id="100" fill="hold">
                            <p:stCondLst>
                              <p:cond delay="36000"/>
                            </p:stCondLst>
                            <p:childTnLst>
                              <p:par>
                                <p:cTn id="101" presetID="2" presetClass="entr" presetSubtype="4" fill="hold" nodeType="after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1000" fill="hold"/>
                                        <p:tgtEl>
                                          <p:spTgt spid="30"/>
                                        </p:tgtEl>
                                        <p:attrNameLst>
                                          <p:attrName>ppt_x</p:attrName>
                                        </p:attrNameLst>
                                      </p:cBhvr>
                                      <p:tavLst>
                                        <p:tav tm="0">
                                          <p:val>
                                            <p:strVal val="#ppt_x"/>
                                          </p:val>
                                        </p:tav>
                                        <p:tav tm="100000">
                                          <p:val>
                                            <p:strVal val="#ppt_x"/>
                                          </p:val>
                                        </p:tav>
                                      </p:tavLst>
                                    </p:anim>
                                    <p:anim calcmode="lin" valueType="num">
                                      <p:cBhvr additive="base">
                                        <p:cTn id="104" dur="1000" fill="hold"/>
                                        <p:tgtEl>
                                          <p:spTgt spid="30"/>
                                        </p:tgtEl>
                                        <p:attrNameLst>
                                          <p:attrName>ppt_y</p:attrName>
                                        </p:attrNameLst>
                                      </p:cBhvr>
                                      <p:tavLst>
                                        <p:tav tm="0">
                                          <p:val>
                                            <p:strVal val="1+#ppt_h/2"/>
                                          </p:val>
                                        </p:tav>
                                        <p:tav tm="100000">
                                          <p:val>
                                            <p:strVal val="#ppt_y"/>
                                          </p:val>
                                        </p:tav>
                                      </p:tavLst>
                                    </p:anim>
                                  </p:childTnLst>
                                </p:cTn>
                              </p:par>
                            </p:childTnLst>
                          </p:cTn>
                        </p:par>
                        <p:par>
                          <p:cTn id="105" fill="hold">
                            <p:stCondLst>
                              <p:cond delay="37000"/>
                            </p:stCondLst>
                            <p:childTnLst>
                              <p:par>
                                <p:cTn id="106" presetID="1" presetClass="exit" presetSubtype="0" fill="hold" nodeType="afterEffect">
                                  <p:stCondLst>
                                    <p:cond delay="0"/>
                                  </p:stCondLst>
                                  <p:childTnLst>
                                    <p:set>
                                      <p:cBhvr>
                                        <p:cTn id="107" dur="1" fill="hold">
                                          <p:stCondLst>
                                            <p:cond delay="1999"/>
                                          </p:stCondLst>
                                        </p:cTn>
                                        <p:tgtEl>
                                          <p:spTgt spid="30"/>
                                        </p:tgtEl>
                                        <p:attrNameLst>
                                          <p:attrName>style.visibility</p:attrName>
                                        </p:attrNameLst>
                                      </p:cBhvr>
                                      <p:to>
                                        <p:strVal val="hidden"/>
                                      </p:to>
                                    </p:set>
                                  </p:childTnLst>
                                </p:cTn>
                              </p:par>
                            </p:childTnLst>
                          </p:cTn>
                        </p:par>
                        <p:par>
                          <p:cTn id="108" fill="hold">
                            <p:stCondLst>
                              <p:cond delay="39000"/>
                            </p:stCondLst>
                            <p:childTnLst>
                              <p:par>
                                <p:cTn id="109" presetID="2" presetClass="entr" presetSubtype="4" fill="hold" nodeType="afterEffect">
                                  <p:stCondLst>
                                    <p:cond delay="0"/>
                                  </p:stCondLst>
                                  <p:childTnLst>
                                    <p:set>
                                      <p:cBhvr>
                                        <p:cTn id="110" dur="1" fill="hold">
                                          <p:stCondLst>
                                            <p:cond delay="0"/>
                                          </p:stCondLst>
                                        </p:cTn>
                                        <p:tgtEl>
                                          <p:spTgt spid="31"/>
                                        </p:tgtEl>
                                        <p:attrNameLst>
                                          <p:attrName>style.visibility</p:attrName>
                                        </p:attrNameLst>
                                      </p:cBhvr>
                                      <p:to>
                                        <p:strVal val="visible"/>
                                      </p:to>
                                    </p:set>
                                    <p:anim calcmode="lin" valueType="num">
                                      <p:cBhvr additive="base">
                                        <p:cTn id="111" dur="1000" fill="hold"/>
                                        <p:tgtEl>
                                          <p:spTgt spid="31"/>
                                        </p:tgtEl>
                                        <p:attrNameLst>
                                          <p:attrName>ppt_x</p:attrName>
                                        </p:attrNameLst>
                                      </p:cBhvr>
                                      <p:tavLst>
                                        <p:tav tm="0">
                                          <p:val>
                                            <p:strVal val="#ppt_x"/>
                                          </p:val>
                                        </p:tav>
                                        <p:tav tm="100000">
                                          <p:val>
                                            <p:strVal val="#ppt_x"/>
                                          </p:val>
                                        </p:tav>
                                      </p:tavLst>
                                    </p:anim>
                                    <p:anim calcmode="lin" valueType="num">
                                      <p:cBhvr additive="base">
                                        <p:cTn id="112" dur="1000" fill="hold"/>
                                        <p:tgtEl>
                                          <p:spTgt spid="31"/>
                                        </p:tgtEl>
                                        <p:attrNameLst>
                                          <p:attrName>ppt_y</p:attrName>
                                        </p:attrNameLst>
                                      </p:cBhvr>
                                      <p:tavLst>
                                        <p:tav tm="0">
                                          <p:val>
                                            <p:strVal val="1+#ppt_h/2"/>
                                          </p:val>
                                        </p:tav>
                                        <p:tav tm="100000">
                                          <p:val>
                                            <p:strVal val="#ppt_y"/>
                                          </p:val>
                                        </p:tav>
                                      </p:tavLst>
                                    </p:anim>
                                  </p:childTnLst>
                                </p:cTn>
                              </p:par>
                            </p:childTnLst>
                          </p:cTn>
                        </p:par>
                        <p:par>
                          <p:cTn id="113" fill="hold">
                            <p:stCondLst>
                              <p:cond delay="40000"/>
                            </p:stCondLst>
                            <p:childTnLst>
                              <p:par>
                                <p:cTn id="114" presetID="1" presetClass="exit" presetSubtype="0" fill="hold" nodeType="afterEffect">
                                  <p:stCondLst>
                                    <p:cond delay="0"/>
                                  </p:stCondLst>
                                  <p:childTnLst>
                                    <p:set>
                                      <p:cBhvr>
                                        <p:cTn id="115" dur="1" fill="hold">
                                          <p:stCondLst>
                                            <p:cond delay="1999"/>
                                          </p:stCondLst>
                                        </p:cTn>
                                        <p:tgtEl>
                                          <p:spTgt spid="31"/>
                                        </p:tgtEl>
                                        <p:attrNameLst>
                                          <p:attrName>style.visibility</p:attrName>
                                        </p:attrNameLst>
                                      </p:cBhvr>
                                      <p:to>
                                        <p:strVal val="hidden"/>
                                      </p:to>
                                    </p:set>
                                  </p:childTnLst>
                                </p:cTn>
                              </p:par>
                            </p:childTnLst>
                          </p:cTn>
                        </p:par>
                        <p:par>
                          <p:cTn id="116" fill="hold">
                            <p:stCondLst>
                              <p:cond delay="42000"/>
                            </p:stCondLst>
                            <p:childTnLst>
                              <p:par>
                                <p:cTn id="117" presetID="2" presetClass="entr" presetSubtype="4" fill="hold" nodeType="afterEffect">
                                  <p:stCondLst>
                                    <p:cond delay="0"/>
                                  </p:stCondLst>
                                  <p:childTnLst>
                                    <p:set>
                                      <p:cBhvr>
                                        <p:cTn id="118" dur="1" fill="hold">
                                          <p:stCondLst>
                                            <p:cond delay="0"/>
                                          </p:stCondLst>
                                        </p:cTn>
                                        <p:tgtEl>
                                          <p:spTgt spid="32"/>
                                        </p:tgtEl>
                                        <p:attrNameLst>
                                          <p:attrName>style.visibility</p:attrName>
                                        </p:attrNameLst>
                                      </p:cBhvr>
                                      <p:to>
                                        <p:strVal val="visible"/>
                                      </p:to>
                                    </p:set>
                                    <p:anim calcmode="lin" valueType="num">
                                      <p:cBhvr additive="base">
                                        <p:cTn id="119" dur="1000" fill="hold"/>
                                        <p:tgtEl>
                                          <p:spTgt spid="32"/>
                                        </p:tgtEl>
                                        <p:attrNameLst>
                                          <p:attrName>ppt_x</p:attrName>
                                        </p:attrNameLst>
                                      </p:cBhvr>
                                      <p:tavLst>
                                        <p:tav tm="0">
                                          <p:val>
                                            <p:strVal val="#ppt_x"/>
                                          </p:val>
                                        </p:tav>
                                        <p:tav tm="100000">
                                          <p:val>
                                            <p:strVal val="#ppt_x"/>
                                          </p:val>
                                        </p:tav>
                                      </p:tavLst>
                                    </p:anim>
                                    <p:anim calcmode="lin" valueType="num">
                                      <p:cBhvr additive="base">
                                        <p:cTn id="120" dur="1000" fill="hold"/>
                                        <p:tgtEl>
                                          <p:spTgt spid="32"/>
                                        </p:tgtEl>
                                        <p:attrNameLst>
                                          <p:attrName>ppt_y</p:attrName>
                                        </p:attrNameLst>
                                      </p:cBhvr>
                                      <p:tavLst>
                                        <p:tav tm="0">
                                          <p:val>
                                            <p:strVal val="1+#ppt_h/2"/>
                                          </p:val>
                                        </p:tav>
                                        <p:tav tm="100000">
                                          <p:val>
                                            <p:strVal val="#ppt_y"/>
                                          </p:val>
                                        </p:tav>
                                      </p:tavLst>
                                    </p:anim>
                                  </p:childTnLst>
                                </p:cTn>
                              </p:par>
                            </p:childTnLst>
                          </p:cTn>
                        </p:par>
                        <p:par>
                          <p:cTn id="121" fill="hold">
                            <p:stCondLst>
                              <p:cond delay="43000"/>
                            </p:stCondLst>
                            <p:childTnLst>
                              <p:par>
                                <p:cTn id="122" presetID="1" presetClass="exit" presetSubtype="0" fill="hold" nodeType="afterEffect">
                                  <p:stCondLst>
                                    <p:cond delay="0"/>
                                  </p:stCondLst>
                                  <p:childTnLst>
                                    <p:set>
                                      <p:cBhvr>
                                        <p:cTn id="123" dur="1" fill="hold">
                                          <p:stCondLst>
                                            <p:cond delay="1999"/>
                                          </p:stCondLst>
                                        </p:cTn>
                                        <p:tgtEl>
                                          <p:spTgt spid="32"/>
                                        </p:tgtEl>
                                        <p:attrNameLst>
                                          <p:attrName>style.visibility</p:attrName>
                                        </p:attrNameLst>
                                      </p:cBhvr>
                                      <p:to>
                                        <p:strVal val="hidden"/>
                                      </p:to>
                                    </p:set>
                                  </p:childTnLst>
                                </p:cTn>
                              </p:par>
                            </p:childTnLst>
                          </p:cTn>
                        </p:par>
                        <p:par>
                          <p:cTn id="124" fill="hold">
                            <p:stCondLst>
                              <p:cond delay="45000"/>
                            </p:stCondLst>
                            <p:childTnLst>
                              <p:par>
                                <p:cTn id="125" presetID="2" presetClass="entr" presetSubtype="4" fill="hold" nodeType="afterEffect">
                                  <p:stCondLst>
                                    <p:cond delay="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1000" fill="hold"/>
                                        <p:tgtEl>
                                          <p:spTgt spid="33"/>
                                        </p:tgtEl>
                                        <p:attrNameLst>
                                          <p:attrName>ppt_x</p:attrName>
                                        </p:attrNameLst>
                                      </p:cBhvr>
                                      <p:tavLst>
                                        <p:tav tm="0">
                                          <p:val>
                                            <p:strVal val="#ppt_x"/>
                                          </p:val>
                                        </p:tav>
                                        <p:tav tm="100000">
                                          <p:val>
                                            <p:strVal val="#ppt_x"/>
                                          </p:val>
                                        </p:tav>
                                      </p:tavLst>
                                    </p:anim>
                                    <p:anim calcmode="lin" valueType="num">
                                      <p:cBhvr additive="base">
                                        <p:cTn id="128" dur="1000" fill="hold"/>
                                        <p:tgtEl>
                                          <p:spTgt spid="33"/>
                                        </p:tgtEl>
                                        <p:attrNameLst>
                                          <p:attrName>ppt_y</p:attrName>
                                        </p:attrNameLst>
                                      </p:cBhvr>
                                      <p:tavLst>
                                        <p:tav tm="0">
                                          <p:val>
                                            <p:strVal val="1+#ppt_h/2"/>
                                          </p:val>
                                        </p:tav>
                                        <p:tav tm="100000">
                                          <p:val>
                                            <p:strVal val="#ppt_y"/>
                                          </p:val>
                                        </p:tav>
                                      </p:tavLst>
                                    </p:anim>
                                  </p:childTnLst>
                                </p:cTn>
                              </p:par>
                            </p:childTnLst>
                          </p:cTn>
                        </p:par>
                        <p:par>
                          <p:cTn id="129" fill="hold">
                            <p:stCondLst>
                              <p:cond delay="46000"/>
                            </p:stCondLst>
                            <p:childTnLst>
                              <p:par>
                                <p:cTn id="130" presetID="1" presetClass="exit" presetSubtype="0" fill="hold" nodeType="afterEffect">
                                  <p:stCondLst>
                                    <p:cond delay="0"/>
                                  </p:stCondLst>
                                  <p:childTnLst>
                                    <p:set>
                                      <p:cBhvr>
                                        <p:cTn id="131" dur="1" fill="hold">
                                          <p:stCondLst>
                                            <p:cond delay="1999"/>
                                          </p:stCondLst>
                                        </p:cTn>
                                        <p:tgtEl>
                                          <p:spTgt spid="33"/>
                                        </p:tgtEl>
                                        <p:attrNameLst>
                                          <p:attrName>style.visibility</p:attrName>
                                        </p:attrNameLst>
                                      </p:cBhvr>
                                      <p:to>
                                        <p:strVal val="hidden"/>
                                      </p:to>
                                    </p:set>
                                  </p:childTnLst>
                                </p:cTn>
                              </p:par>
                            </p:childTnLst>
                          </p:cTn>
                        </p:par>
                        <p:par>
                          <p:cTn id="132" fill="hold">
                            <p:stCondLst>
                              <p:cond delay="48000"/>
                            </p:stCondLst>
                            <p:childTnLst>
                              <p:par>
                                <p:cTn id="133" presetID="2" presetClass="entr" presetSubtype="4" fill="hold" nodeType="afterEffect">
                                  <p:stCondLst>
                                    <p:cond delay="0"/>
                                  </p:stCondLst>
                                  <p:childTnLst>
                                    <p:set>
                                      <p:cBhvr>
                                        <p:cTn id="134" dur="1" fill="hold">
                                          <p:stCondLst>
                                            <p:cond delay="0"/>
                                          </p:stCondLst>
                                        </p:cTn>
                                        <p:tgtEl>
                                          <p:spTgt spid="34"/>
                                        </p:tgtEl>
                                        <p:attrNameLst>
                                          <p:attrName>style.visibility</p:attrName>
                                        </p:attrNameLst>
                                      </p:cBhvr>
                                      <p:to>
                                        <p:strVal val="visible"/>
                                      </p:to>
                                    </p:set>
                                    <p:anim calcmode="lin" valueType="num">
                                      <p:cBhvr additive="base">
                                        <p:cTn id="135" dur="1000" fill="hold"/>
                                        <p:tgtEl>
                                          <p:spTgt spid="34"/>
                                        </p:tgtEl>
                                        <p:attrNameLst>
                                          <p:attrName>ppt_x</p:attrName>
                                        </p:attrNameLst>
                                      </p:cBhvr>
                                      <p:tavLst>
                                        <p:tav tm="0">
                                          <p:val>
                                            <p:strVal val="#ppt_x"/>
                                          </p:val>
                                        </p:tav>
                                        <p:tav tm="100000">
                                          <p:val>
                                            <p:strVal val="#ppt_x"/>
                                          </p:val>
                                        </p:tav>
                                      </p:tavLst>
                                    </p:anim>
                                    <p:anim calcmode="lin" valueType="num">
                                      <p:cBhvr additive="base">
                                        <p:cTn id="136" dur="1000" fill="hold"/>
                                        <p:tgtEl>
                                          <p:spTgt spid="34"/>
                                        </p:tgtEl>
                                        <p:attrNameLst>
                                          <p:attrName>ppt_y</p:attrName>
                                        </p:attrNameLst>
                                      </p:cBhvr>
                                      <p:tavLst>
                                        <p:tav tm="0">
                                          <p:val>
                                            <p:strVal val="1+#ppt_h/2"/>
                                          </p:val>
                                        </p:tav>
                                        <p:tav tm="100000">
                                          <p:val>
                                            <p:strVal val="#ppt_y"/>
                                          </p:val>
                                        </p:tav>
                                      </p:tavLst>
                                    </p:anim>
                                  </p:childTnLst>
                                </p:cTn>
                              </p:par>
                            </p:childTnLst>
                          </p:cTn>
                        </p:par>
                        <p:par>
                          <p:cTn id="137" fill="hold">
                            <p:stCondLst>
                              <p:cond delay="49000"/>
                            </p:stCondLst>
                            <p:childTnLst>
                              <p:par>
                                <p:cTn id="138" presetID="1" presetClass="exit" presetSubtype="0" fill="hold" nodeType="afterEffect">
                                  <p:stCondLst>
                                    <p:cond delay="0"/>
                                  </p:stCondLst>
                                  <p:childTnLst>
                                    <p:set>
                                      <p:cBhvr>
                                        <p:cTn id="139" dur="1" fill="hold">
                                          <p:stCondLst>
                                            <p:cond delay="1999"/>
                                          </p:stCondLst>
                                        </p:cTn>
                                        <p:tgtEl>
                                          <p:spTgt spid="34"/>
                                        </p:tgtEl>
                                        <p:attrNameLst>
                                          <p:attrName>style.visibility</p:attrName>
                                        </p:attrNameLst>
                                      </p:cBhvr>
                                      <p:to>
                                        <p:strVal val="hidden"/>
                                      </p:to>
                                    </p:set>
                                  </p:childTnLst>
                                </p:cTn>
                              </p:par>
                            </p:childTnLst>
                          </p:cTn>
                        </p:par>
                        <p:par>
                          <p:cTn id="140" fill="hold">
                            <p:stCondLst>
                              <p:cond delay="51000"/>
                            </p:stCondLst>
                            <p:childTnLst>
                              <p:par>
                                <p:cTn id="141" presetID="2" presetClass="entr" presetSubtype="4" fill="hold" nodeType="afterEffect">
                                  <p:stCondLst>
                                    <p:cond delay="0"/>
                                  </p:stCondLst>
                                  <p:childTnLst>
                                    <p:set>
                                      <p:cBhvr>
                                        <p:cTn id="142" dur="1" fill="hold">
                                          <p:stCondLst>
                                            <p:cond delay="0"/>
                                          </p:stCondLst>
                                        </p:cTn>
                                        <p:tgtEl>
                                          <p:spTgt spid="35"/>
                                        </p:tgtEl>
                                        <p:attrNameLst>
                                          <p:attrName>style.visibility</p:attrName>
                                        </p:attrNameLst>
                                      </p:cBhvr>
                                      <p:to>
                                        <p:strVal val="visible"/>
                                      </p:to>
                                    </p:set>
                                    <p:anim calcmode="lin" valueType="num">
                                      <p:cBhvr additive="base">
                                        <p:cTn id="143" dur="1000" fill="hold"/>
                                        <p:tgtEl>
                                          <p:spTgt spid="35"/>
                                        </p:tgtEl>
                                        <p:attrNameLst>
                                          <p:attrName>ppt_x</p:attrName>
                                        </p:attrNameLst>
                                      </p:cBhvr>
                                      <p:tavLst>
                                        <p:tav tm="0">
                                          <p:val>
                                            <p:strVal val="#ppt_x"/>
                                          </p:val>
                                        </p:tav>
                                        <p:tav tm="100000">
                                          <p:val>
                                            <p:strVal val="#ppt_x"/>
                                          </p:val>
                                        </p:tav>
                                      </p:tavLst>
                                    </p:anim>
                                    <p:anim calcmode="lin" valueType="num">
                                      <p:cBhvr additive="base">
                                        <p:cTn id="144" dur="1000" fill="hold"/>
                                        <p:tgtEl>
                                          <p:spTgt spid="35"/>
                                        </p:tgtEl>
                                        <p:attrNameLst>
                                          <p:attrName>ppt_y</p:attrName>
                                        </p:attrNameLst>
                                      </p:cBhvr>
                                      <p:tavLst>
                                        <p:tav tm="0">
                                          <p:val>
                                            <p:strVal val="1+#ppt_h/2"/>
                                          </p:val>
                                        </p:tav>
                                        <p:tav tm="100000">
                                          <p:val>
                                            <p:strVal val="#ppt_y"/>
                                          </p:val>
                                        </p:tav>
                                      </p:tavLst>
                                    </p:anim>
                                  </p:childTnLst>
                                </p:cTn>
                              </p:par>
                            </p:childTnLst>
                          </p:cTn>
                        </p:par>
                        <p:par>
                          <p:cTn id="145" fill="hold">
                            <p:stCondLst>
                              <p:cond delay="52000"/>
                            </p:stCondLst>
                            <p:childTnLst>
                              <p:par>
                                <p:cTn id="146" presetID="1" presetClass="exit" presetSubtype="0" fill="hold" nodeType="afterEffect">
                                  <p:stCondLst>
                                    <p:cond delay="0"/>
                                  </p:stCondLst>
                                  <p:childTnLst>
                                    <p:set>
                                      <p:cBhvr>
                                        <p:cTn id="147" dur="1" fill="hold">
                                          <p:stCondLst>
                                            <p:cond delay="1999"/>
                                          </p:stCondLst>
                                        </p:cTn>
                                        <p:tgtEl>
                                          <p:spTgt spid="35"/>
                                        </p:tgtEl>
                                        <p:attrNameLst>
                                          <p:attrName>style.visibility</p:attrName>
                                        </p:attrNameLst>
                                      </p:cBhvr>
                                      <p:to>
                                        <p:strVal val="hidden"/>
                                      </p:to>
                                    </p:set>
                                  </p:childTnLst>
                                </p:cTn>
                              </p:par>
                            </p:childTnLst>
                          </p:cTn>
                        </p:par>
                        <p:par>
                          <p:cTn id="148" fill="hold">
                            <p:stCondLst>
                              <p:cond delay="54000"/>
                            </p:stCondLst>
                            <p:childTnLst>
                              <p:par>
                                <p:cTn id="149" presetID="2" presetClass="entr" presetSubtype="4" fill="hold" nodeType="afterEffect">
                                  <p:stCondLst>
                                    <p:cond delay="0"/>
                                  </p:stCondLst>
                                  <p:childTnLst>
                                    <p:set>
                                      <p:cBhvr>
                                        <p:cTn id="150" dur="1" fill="hold">
                                          <p:stCondLst>
                                            <p:cond delay="0"/>
                                          </p:stCondLst>
                                        </p:cTn>
                                        <p:tgtEl>
                                          <p:spTgt spid="36"/>
                                        </p:tgtEl>
                                        <p:attrNameLst>
                                          <p:attrName>style.visibility</p:attrName>
                                        </p:attrNameLst>
                                      </p:cBhvr>
                                      <p:to>
                                        <p:strVal val="visible"/>
                                      </p:to>
                                    </p:set>
                                    <p:anim calcmode="lin" valueType="num">
                                      <p:cBhvr additive="base">
                                        <p:cTn id="151" dur="500" fill="hold"/>
                                        <p:tgtEl>
                                          <p:spTgt spid="36"/>
                                        </p:tgtEl>
                                        <p:attrNameLst>
                                          <p:attrName>ppt_x</p:attrName>
                                        </p:attrNameLst>
                                      </p:cBhvr>
                                      <p:tavLst>
                                        <p:tav tm="0">
                                          <p:val>
                                            <p:strVal val="#ppt_x"/>
                                          </p:val>
                                        </p:tav>
                                        <p:tav tm="100000">
                                          <p:val>
                                            <p:strVal val="#ppt_x"/>
                                          </p:val>
                                        </p:tav>
                                      </p:tavLst>
                                    </p:anim>
                                    <p:anim calcmode="lin" valueType="num">
                                      <p:cBhvr additive="base">
                                        <p:cTn id="15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lum/>
          </a:blip>
          <a:srcRect/>
          <a:stretch>
            <a:fillRect l="31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9EE78-DDA1-43E4-84F6-7116B8F064CD}"/>
              </a:ext>
            </a:extLst>
          </p:cNvPr>
          <p:cNvSpPr>
            <a:spLocks noGrp="1"/>
          </p:cNvSpPr>
          <p:nvPr>
            <p:ph idx="1"/>
          </p:nvPr>
        </p:nvSpPr>
        <p:spPr>
          <a:xfrm>
            <a:off x="368282" y="-204952"/>
            <a:ext cx="2611402" cy="788275"/>
          </a:xfrm>
        </p:spPr>
        <p:txBody>
          <a:bodyPr>
            <a:normAutofit fontScale="85000" lnSpcReduction="10000"/>
          </a:bodyPr>
          <a:lstStyle/>
          <a:p>
            <a:pPr marL="0" indent="0" algn="ctr">
              <a:lnSpc>
                <a:spcPct val="220000"/>
              </a:lnSpc>
              <a:buNone/>
            </a:pPr>
            <a:r>
              <a:rPr lang="en-US" sz="2900" dirty="0"/>
              <a:t>Test Results:</a:t>
            </a:r>
          </a:p>
        </p:txBody>
      </p:sp>
      <p:graphicFrame>
        <p:nvGraphicFramePr>
          <p:cNvPr id="2" name="Table 1">
            <a:extLst>
              <a:ext uri="{FF2B5EF4-FFF2-40B4-BE49-F238E27FC236}">
                <a16:creationId xmlns:a16="http://schemas.microsoft.com/office/drawing/2014/main" id="{B101F075-0F5F-47EA-83E1-8C0580C88276}"/>
              </a:ext>
            </a:extLst>
          </p:cNvPr>
          <p:cNvGraphicFramePr>
            <a:graphicFrameLocks noGrp="1"/>
          </p:cNvGraphicFramePr>
          <p:nvPr>
            <p:extLst>
              <p:ext uri="{D42A27DB-BD31-4B8C-83A1-F6EECF244321}">
                <p14:modId xmlns:p14="http://schemas.microsoft.com/office/powerpoint/2010/main" val="3486718486"/>
              </p:ext>
            </p:extLst>
          </p:nvPr>
        </p:nvGraphicFramePr>
        <p:xfrm>
          <a:off x="126124" y="583326"/>
          <a:ext cx="11918731" cy="6103154"/>
        </p:xfrm>
        <a:graphic>
          <a:graphicData uri="http://schemas.openxmlformats.org/drawingml/2006/table">
            <a:tbl>
              <a:tblPr firstRow="1" firstCol="1" bandRow="1">
                <a:tableStyleId>{5C22544A-7EE6-4342-B048-85BDC9FD1C3A}</a:tableStyleId>
              </a:tblPr>
              <a:tblGrid>
                <a:gridCol w="1279209">
                  <a:extLst>
                    <a:ext uri="{9D8B030D-6E8A-4147-A177-3AD203B41FA5}">
                      <a16:colId xmlns:a16="http://schemas.microsoft.com/office/drawing/2014/main" val="2595562447"/>
                    </a:ext>
                  </a:extLst>
                </a:gridCol>
                <a:gridCol w="2202271">
                  <a:extLst>
                    <a:ext uri="{9D8B030D-6E8A-4147-A177-3AD203B41FA5}">
                      <a16:colId xmlns:a16="http://schemas.microsoft.com/office/drawing/2014/main" val="816886315"/>
                    </a:ext>
                  </a:extLst>
                </a:gridCol>
                <a:gridCol w="3875463">
                  <a:extLst>
                    <a:ext uri="{9D8B030D-6E8A-4147-A177-3AD203B41FA5}">
                      <a16:colId xmlns:a16="http://schemas.microsoft.com/office/drawing/2014/main" val="2301358516"/>
                    </a:ext>
                  </a:extLst>
                </a:gridCol>
                <a:gridCol w="3875463">
                  <a:extLst>
                    <a:ext uri="{9D8B030D-6E8A-4147-A177-3AD203B41FA5}">
                      <a16:colId xmlns:a16="http://schemas.microsoft.com/office/drawing/2014/main" val="869465569"/>
                    </a:ext>
                  </a:extLst>
                </a:gridCol>
                <a:gridCol w="686325">
                  <a:extLst>
                    <a:ext uri="{9D8B030D-6E8A-4147-A177-3AD203B41FA5}">
                      <a16:colId xmlns:a16="http://schemas.microsoft.com/office/drawing/2014/main" val="377675130"/>
                    </a:ext>
                  </a:extLst>
                </a:gridCol>
              </a:tblGrid>
              <a:tr h="351825">
                <a:tc>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Project Name</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gridSpan="4">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Online Hospital Management System for HealthCare Plus Hospital.</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06327362"/>
                  </a:ext>
                </a:extLst>
              </a:tr>
              <a:tr h="254386">
                <a:tc>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Release Version</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gridSpan="4">
                  <a:txBody>
                    <a:bodyPr/>
                    <a:lstStyle/>
                    <a:p>
                      <a:pPr marL="0" marR="0" algn="just">
                        <a:lnSpc>
                          <a:spcPct val="150000"/>
                        </a:lnSpc>
                        <a:spcBef>
                          <a:spcPts val="1400"/>
                        </a:spcBef>
                        <a:spcAft>
                          <a:spcPts val="400"/>
                        </a:spcAft>
                      </a:pPr>
                      <a:r>
                        <a:rPr lang="en-US" sz="1200" dirty="0">
                          <a:effectLst/>
                          <a:latin typeface="Times New Roman" panose="02020603050405020304" pitchFamily="18" charset="0"/>
                          <a:cs typeface="Times New Roman" panose="02020603050405020304" pitchFamily="18" charset="0"/>
                        </a:rPr>
                        <a:t>1.0</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12227098"/>
                  </a:ext>
                </a:extLst>
              </a:tr>
              <a:tr h="254386">
                <a:tc>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Module Name</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gridSpan="4">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User Login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44439525"/>
                  </a:ext>
                </a:extLst>
              </a:tr>
              <a:tr h="254386">
                <a:tc>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Preconditions</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gridSpan="4">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Internet connection available, user account exists.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6833063"/>
                  </a:ext>
                </a:extLst>
              </a:tr>
              <a:tr h="378448">
                <a:tc>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Test Case ID</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Test Case Description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Input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Expected Output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Result</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extLst>
                  <a:ext uri="{0D108BD9-81ED-4DB2-BD59-A6C34878D82A}">
                    <a16:rowId xmlns:a16="http://schemas.microsoft.com/office/drawing/2014/main" val="2417892247"/>
                  </a:ext>
                </a:extLst>
              </a:tr>
              <a:tr h="302898">
                <a:tc rowSpan="3">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01</a:t>
                      </a:r>
                      <a:endPar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solidFill>
                      <a:schemeClr val="accent2">
                        <a:lumMod val="40000"/>
                        <a:lumOff val="60000"/>
                      </a:schemeClr>
                    </a:solidFill>
                  </a:tcPr>
                </a:tc>
                <a:tc rowSpan="3">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User Login</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Empty Username and Password.</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“Invalid Credentials”.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extLst>
                  <a:ext uri="{0D108BD9-81ED-4DB2-BD59-A6C34878D82A}">
                    <a16:rowId xmlns:a16="http://schemas.microsoft.com/office/drawing/2014/main" val="4252323936"/>
                  </a:ext>
                </a:extLst>
              </a:tr>
              <a:tr h="378448">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Incorrect Username and Password.</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“We can’t find any account for this email.”</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extLst>
                  <a:ext uri="{0D108BD9-81ED-4DB2-BD59-A6C34878D82A}">
                    <a16:rowId xmlns:a16="http://schemas.microsoft.com/office/drawing/2014/main" val="4160419152"/>
                  </a:ext>
                </a:extLst>
              </a:tr>
              <a:tr h="543431">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dirty="0">
                          <a:effectLst/>
                          <a:latin typeface="Times New Roman" panose="02020603050405020304" pitchFamily="18" charset="0"/>
                          <a:cs typeface="Times New Roman" panose="02020603050405020304" pitchFamily="18" charset="0"/>
                        </a:rPr>
                        <a:t>Correct Username and Password.</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Successfully Message “Login Successfully”. User redirected to role-based dashboard.</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38455" marR="38455" marT="0" marB="0"/>
                </a:tc>
                <a:extLst>
                  <a:ext uri="{0D108BD9-81ED-4DB2-BD59-A6C34878D82A}">
                    <a16:rowId xmlns:a16="http://schemas.microsoft.com/office/drawing/2014/main" val="906665612"/>
                  </a:ext>
                </a:extLst>
              </a:tr>
              <a:tr h="348266">
                <a:tc rowSpan="3">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02</a:t>
                      </a:r>
                      <a:endParaRPr lang="en-US"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solidFill>
                      <a:schemeClr val="accent2">
                        <a:lumMod val="40000"/>
                        <a:lumOff val="60000"/>
                      </a:schemeClr>
                    </a:solidFill>
                  </a:tcPr>
                </a:tc>
                <a:tc rowSpan="3">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User Registration.</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Empty required fields.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“Please fill all required fields.”.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4136182777"/>
                  </a:ext>
                </a:extLst>
              </a:tr>
              <a:tr h="355382">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Invalid email format.</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“Invalid email address.”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4233162892"/>
                  </a:ext>
                </a:extLst>
              </a:tr>
              <a:tr h="303787">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Password and confirm password mismatch.</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“Passwords do not match.”</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1092389740"/>
                  </a:ext>
                </a:extLst>
              </a:tr>
              <a:tr h="254386">
                <a:tc rowSpan="3">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03</a:t>
                      </a:r>
                      <a:endParaRPr lang="en-US"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solidFill>
                      <a:schemeClr val="accent2">
                        <a:lumMod val="40000"/>
                        <a:lumOff val="60000"/>
                      </a:schemeClr>
                    </a:solidFill>
                  </a:tcPr>
                </a:tc>
                <a:tc rowSpan="3">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Book Appointment</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Doctor not selected.</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“Please Select a Doctor”.</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4272604490"/>
                  </a:ext>
                </a:extLst>
              </a:tr>
              <a:tr h="355382">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Date not selected.</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“Please Select Appointment Date.”</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3322434053"/>
                  </a:ext>
                </a:extLst>
              </a:tr>
              <a:tr h="254386">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Time slot already booked.</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“Selected Time Slot Unavailable”.</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1700080697"/>
                  </a:ext>
                </a:extLst>
              </a:tr>
              <a:tr h="254386">
                <a:tc rowSpan="3">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04</a:t>
                      </a:r>
                      <a:endParaRPr lang="en-US"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solidFill>
                      <a:schemeClr val="accent2">
                        <a:lumMod val="40000"/>
                        <a:lumOff val="60000"/>
                      </a:schemeClr>
                    </a:solidFill>
                  </a:tcPr>
                </a:tc>
                <a:tc rowSpan="3">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Make Payment.</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Incorrect Payment Details.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“Invalid Credentials”.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831284627"/>
                  </a:ext>
                </a:extLst>
              </a:tr>
              <a:tr h="254386">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Correct details insufficient balance.</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“Insufficient Balance.”</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1700865178"/>
                  </a:ext>
                </a:extLst>
              </a:tr>
              <a:tr h="239528">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Correct details and sufficient balance.</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Payment Successful and Receipt Generated.</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2636517031"/>
                  </a:ext>
                </a:extLst>
              </a:tr>
              <a:tr h="254386">
                <a:tc rowSpan="3">
                  <a:txBody>
                    <a:bodyPr/>
                    <a:lstStyle/>
                    <a:p>
                      <a:pPr marL="0" marR="0" algn="just">
                        <a:lnSpc>
                          <a:spcPct val="150000"/>
                        </a:lnSpc>
                        <a:spcBef>
                          <a:spcPts val="1400"/>
                        </a:spcBef>
                        <a:spcAft>
                          <a:spcPts val="400"/>
                        </a:spcAft>
                      </a:pPr>
                      <a:r>
                        <a:rPr lang="en-US" sz="1200" dirty="0">
                          <a:solidFill>
                            <a:schemeClr val="tx1"/>
                          </a:solidFill>
                          <a:effectLst/>
                          <a:latin typeface="Times New Roman" panose="02020603050405020304" pitchFamily="18" charset="0"/>
                          <a:cs typeface="Times New Roman" panose="02020603050405020304" pitchFamily="18" charset="0"/>
                        </a:rPr>
                        <a:t>05</a:t>
                      </a:r>
                      <a:endParaRPr lang="en-US" sz="12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solidFill>
                      <a:schemeClr val="accent2">
                        <a:lumMod val="40000"/>
                        <a:lumOff val="60000"/>
                      </a:schemeClr>
                    </a:solidFill>
                  </a:tcPr>
                </a:tc>
                <a:tc rowSpan="3">
                  <a:txBody>
                    <a:bodyPr/>
                    <a:lstStyle/>
                    <a:p>
                      <a:pPr marL="0" marR="0" algn="just">
                        <a:lnSpc>
                          <a:spcPct val="150000"/>
                        </a:lnSpc>
                        <a:spcBef>
                          <a:spcPts val="1400"/>
                        </a:spcBef>
                        <a:spcAft>
                          <a:spcPts val="400"/>
                        </a:spcAft>
                      </a:pPr>
                      <a:r>
                        <a:rPr lang="en-US" sz="1200" dirty="0">
                          <a:effectLst/>
                          <a:latin typeface="Times New Roman" panose="02020603050405020304" pitchFamily="18" charset="0"/>
                          <a:cs typeface="Times New Roman" panose="02020603050405020304" pitchFamily="18" charset="0"/>
                        </a:rPr>
                        <a:t>Make Payment.</a:t>
                      </a:r>
                      <a:endPar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Missing mandatory fields.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“Please fill required fields”.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2237772560"/>
                  </a:ext>
                </a:extLst>
              </a:tr>
              <a:tr h="254386">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Invalid Specialization.</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Error message “Invalid Specialization.”</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Pass </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3688992852"/>
                  </a:ext>
                </a:extLst>
              </a:tr>
              <a:tr h="254386">
                <a:tc vMerge="1">
                  <a:txBody>
                    <a:bodyPr/>
                    <a:lstStyle/>
                    <a:p>
                      <a:endParaRPr lang="en-US"/>
                    </a:p>
                  </a:txBody>
                  <a:tcPr/>
                </a:tc>
                <a:tc vMerge="1">
                  <a:txBody>
                    <a:bodyPr/>
                    <a:lstStyle/>
                    <a:p>
                      <a:endParaRPr lang="en-US"/>
                    </a:p>
                  </a:txBody>
                  <a:tcPr/>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All valid details.</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a:effectLst/>
                          <a:latin typeface="Times New Roman" panose="02020603050405020304" pitchFamily="18" charset="0"/>
                          <a:cs typeface="Times New Roman" panose="02020603050405020304" pitchFamily="18" charset="0"/>
                        </a:rPr>
                        <a:t>Doctor profile added successfully.</a:t>
                      </a:r>
                      <a:endParaRPr lang="en-US"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tc>
                  <a:txBody>
                    <a:bodyPr/>
                    <a:lstStyle/>
                    <a:p>
                      <a:pPr marL="0" marR="0" algn="just">
                        <a:lnSpc>
                          <a:spcPct val="150000"/>
                        </a:lnSpc>
                        <a:spcBef>
                          <a:spcPts val="1400"/>
                        </a:spcBef>
                        <a:spcAft>
                          <a:spcPts val="400"/>
                        </a:spcAft>
                      </a:pPr>
                      <a:r>
                        <a:rPr lang="en-US" sz="1200" dirty="0">
                          <a:effectLst/>
                          <a:latin typeface="Times New Roman" panose="02020603050405020304" pitchFamily="18" charset="0"/>
                          <a:cs typeface="Times New Roman" panose="02020603050405020304" pitchFamily="18" charset="0"/>
                        </a:rPr>
                        <a:t>Pass </a:t>
                      </a:r>
                      <a:endPar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8455" marR="38455" marT="0" marB="0"/>
                </a:tc>
                <a:extLst>
                  <a:ext uri="{0D108BD9-81ED-4DB2-BD59-A6C34878D82A}">
                    <a16:rowId xmlns:a16="http://schemas.microsoft.com/office/drawing/2014/main" val="2447776492"/>
                  </a:ext>
                </a:extLst>
              </a:tr>
            </a:tbl>
          </a:graphicData>
        </a:graphic>
      </p:graphicFrame>
    </p:spTree>
    <p:extLst>
      <p:ext uri="{BB962C8B-B14F-4D97-AF65-F5344CB8AC3E}">
        <p14:creationId xmlns:p14="http://schemas.microsoft.com/office/powerpoint/2010/main" val="1392668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9EE78-DDA1-43E4-84F6-7116B8F064CD}"/>
              </a:ext>
            </a:extLst>
          </p:cNvPr>
          <p:cNvSpPr>
            <a:spLocks noGrp="1"/>
          </p:cNvSpPr>
          <p:nvPr>
            <p:ph idx="1"/>
          </p:nvPr>
        </p:nvSpPr>
        <p:spPr>
          <a:xfrm>
            <a:off x="368282" y="0"/>
            <a:ext cx="2611402" cy="788275"/>
          </a:xfrm>
        </p:spPr>
        <p:txBody>
          <a:bodyPr>
            <a:normAutofit fontScale="85000" lnSpcReduction="10000"/>
          </a:bodyPr>
          <a:lstStyle/>
          <a:p>
            <a:pPr marL="0" indent="0" algn="ctr">
              <a:lnSpc>
                <a:spcPct val="220000"/>
              </a:lnSpc>
              <a:buNone/>
            </a:pPr>
            <a:r>
              <a:rPr lang="en-US" sz="2900" dirty="0"/>
              <a:t>Conclusion:</a:t>
            </a:r>
          </a:p>
        </p:txBody>
      </p:sp>
      <p:sp>
        <p:nvSpPr>
          <p:cNvPr id="5" name="TextBox 4">
            <a:extLst>
              <a:ext uri="{FF2B5EF4-FFF2-40B4-BE49-F238E27FC236}">
                <a16:creationId xmlns:a16="http://schemas.microsoft.com/office/drawing/2014/main" id="{07B61E13-F203-4AA6-A022-7C6410A0C26B}"/>
              </a:ext>
            </a:extLst>
          </p:cNvPr>
          <p:cNvSpPr txBox="1"/>
          <p:nvPr/>
        </p:nvSpPr>
        <p:spPr>
          <a:xfrm>
            <a:off x="0" y="939793"/>
            <a:ext cx="12192000" cy="5229765"/>
          </a:xfrm>
          <a:prstGeom prst="rect">
            <a:avLst/>
          </a:prstGeom>
          <a:noFill/>
        </p:spPr>
        <p:txBody>
          <a:bodyPr wrap="square">
            <a:spAutoFit/>
          </a:bodyPr>
          <a:lstStyle/>
          <a:p>
            <a:pPr marL="0" marR="0" algn="just">
              <a:lnSpc>
                <a:spcPct val="150000"/>
              </a:lnSpc>
              <a:spcBef>
                <a:spcPts val="1400"/>
              </a:spcBef>
              <a:spcAft>
                <a:spcPts val="400"/>
              </a:spcAft>
            </a:pPr>
            <a:r>
              <a:rPr lang="en-US" sz="2000" b="1" dirty="0">
                <a:effectLst/>
                <a:latin typeface="Times New Roman" panose="02020603050405020304" pitchFamily="18" charset="0"/>
                <a:ea typeface="Times New Roman" panose="02020603050405020304" pitchFamily="18" charset="0"/>
                <a:cs typeface="Iskoola Pota" panose="020B0502040204020203" pitchFamily="34" charset="0"/>
              </a:rPr>
              <a:t>Future Works.</a:t>
            </a:r>
          </a:p>
          <a:p>
            <a:pPr marL="171450" marR="0" indent="-171450" algn="just">
              <a:lnSpc>
                <a:spcPct val="150000"/>
              </a:lnSpc>
              <a:spcBef>
                <a:spcPts val="1400"/>
              </a:spcBef>
              <a:spcAft>
                <a:spcPts val="400"/>
              </a:spcAft>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Mobile Application Development</a:t>
            </a:r>
            <a:r>
              <a:rPr lang="en-US" sz="1200" b="1" dirty="0">
                <a:latin typeface="Times New Roman" panose="02020603050405020304" pitchFamily="18" charset="0"/>
                <a:ea typeface="Times New Roman" panose="02020603050405020304" pitchFamily="18" charset="0"/>
                <a:cs typeface="Iskoola Pota" panose="020B0502040204020203" pitchFamily="34" charset="0"/>
              </a:rPr>
              <a:t>: </a:t>
            </a: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Presently, the system is an online platform. Future upgrades may involve applications for smartphones running on the Android and iOS operating system. this will give patients the flexibility to use their smartphones to book appointments, send notifications, view medical reports, among functions.</a:t>
            </a:r>
          </a:p>
          <a:p>
            <a:pPr marL="171450" marR="0" indent="-171450" algn="just">
              <a:lnSpc>
                <a:spcPct val="150000"/>
              </a:lnSpc>
              <a:spcBef>
                <a:spcPts val="1400"/>
              </a:spcBef>
              <a:spcAft>
                <a:spcPts val="400"/>
              </a:spcAft>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Online Consultation and Telemedicine Support</a:t>
            </a:r>
            <a:r>
              <a:rPr lang="en-US" sz="1200" b="1" dirty="0">
                <a:latin typeface="Times New Roman" panose="02020603050405020304" pitchFamily="18" charset="0"/>
                <a:ea typeface="Times New Roman" panose="02020603050405020304" pitchFamily="18" charset="0"/>
                <a:cs typeface="Iskoola Pota" panose="020B0502040204020203" pitchFamily="34" charset="0"/>
              </a:rPr>
              <a:t>: </a:t>
            </a: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To cater to this increasing need for telehealth services, certain features of telemedicine can be implemented in this system. the addition of a video conferencing function would enable doctors to conduct virtual sessions, which would benefit patients in distant and emergency circumstances. </a:t>
            </a:r>
          </a:p>
          <a:p>
            <a:pPr marL="171450" marR="0" indent="-171450" algn="just">
              <a:lnSpc>
                <a:spcPct val="150000"/>
              </a:lnSpc>
              <a:spcBef>
                <a:spcPts val="1400"/>
              </a:spcBef>
              <a:spcAft>
                <a:spcPts val="400"/>
              </a:spcAft>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Enhanced Appointment Scheduling with AI Assistance</a:t>
            </a:r>
            <a:r>
              <a:rPr lang="en-US" sz="1200" b="1" dirty="0">
                <a:latin typeface="Times New Roman" panose="02020603050405020304" pitchFamily="18" charset="0"/>
                <a:ea typeface="Times New Roman" panose="02020603050405020304" pitchFamily="18" charset="0"/>
                <a:cs typeface="Iskoola Pota" panose="020B0502040204020203" pitchFamily="34" charset="0"/>
              </a:rPr>
              <a:t>: </a:t>
            </a: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Future updates might bring features like the use of AI for scheduling appointments based on the doctor’s availability, the urgency of the patient’s needs, and past trends. Waiting times and resource allocation in the hospital can thus be optimized.</a:t>
            </a:r>
          </a:p>
          <a:p>
            <a:pPr marL="171450" marR="0" indent="-171450" algn="just">
              <a:lnSpc>
                <a:spcPct val="150000"/>
              </a:lnSpc>
              <a:spcBef>
                <a:spcPts val="1400"/>
              </a:spcBef>
              <a:spcAft>
                <a:spcPts val="400"/>
              </a:spcAft>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Interface with Pharmacy and Lab Systems</a:t>
            </a:r>
            <a:r>
              <a:rPr lang="en-US" sz="1200" b="1" dirty="0">
                <a:latin typeface="Times New Roman" panose="02020603050405020304" pitchFamily="18" charset="0"/>
                <a:ea typeface="Times New Roman" panose="02020603050405020304" pitchFamily="18" charset="0"/>
                <a:cs typeface="Iskoola Pota" panose="020B0502040204020203" pitchFamily="34" charset="0"/>
              </a:rPr>
              <a:t>: </a:t>
            </a: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The system can also be expanded to incorporate other modules, such as managing pharmacies and laboratories. Handling prescriptions and uploading results for lab tests would go a long way in enhancing cooperation and ease within hospital divisions.</a:t>
            </a:r>
          </a:p>
          <a:p>
            <a:pPr marL="171450" marR="0" indent="-171450" algn="just">
              <a:lnSpc>
                <a:spcPct val="150000"/>
              </a:lnSpc>
              <a:spcBef>
                <a:spcPts val="1400"/>
              </a:spcBef>
              <a:spcAft>
                <a:spcPts val="400"/>
              </a:spcAft>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Multilingual and Localization Capabilities</a:t>
            </a:r>
            <a:r>
              <a:rPr lang="en-US" sz="1200" b="1" dirty="0">
                <a:latin typeface="Times New Roman" panose="02020603050405020304" pitchFamily="18" charset="0"/>
                <a:ea typeface="Times New Roman" panose="02020603050405020304" pitchFamily="18" charset="0"/>
                <a:cs typeface="Iskoola Pota" panose="020B0502040204020203" pitchFamily="34" charset="0"/>
              </a:rPr>
              <a:t>: </a:t>
            </a: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Although the current system is able to perform the basic functionality, some future developments that could be introduces into the program include multilingual support, thereby benefiting patients who hail from varying linguistic backgrounds.</a:t>
            </a:r>
          </a:p>
          <a:p>
            <a:pPr marL="171450" marR="0" indent="-171450" algn="just">
              <a:lnSpc>
                <a:spcPct val="150000"/>
              </a:lnSpc>
              <a:spcBef>
                <a:spcPts val="1400"/>
              </a:spcBef>
              <a:spcAft>
                <a:spcPts val="400"/>
              </a:spcAft>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Cloud Deployment and Multi-Hospital Capability</a:t>
            </a:r>
            <a:r>
              <a:rPr lang="en-US" sz="1200" b="1" dirty="0">
                <a:latin typeface="Times New Roman" panose="02020603050405020304" pitchFamily="18" charset="0"/>
                <a:ea typeface="Times New Roman" panose="02020603050405020304" pitchFamily="18" charset="0"/>
                <a:cs typeface="Iskoola Pota" panose="020B0502040204020203" pitchFamily="34" charset="0"/>
              </a:rPr>
              <a:t>: </a:t>
            </a:r>
            <a:r>
              <a:rPr lang="en-US" sz="1200" b="1" dirty="0">
                <a:effectLst/>
                <a:latin typeface="Times New Roman" panose="02020603050405020304" pitchFamily="18" charset="0"/>
                <a:ea typeface="Times New Roman" panose="02020603050405020304" pitchFamily="18" charset="0"/>
                <a:cs typeface="Iskoola Pota" panose="020B0502040204020203" pitchFamily="34" charset="0"/>
              </a:rPr>
              <a:t>Future improvement can then be centered around aspects such as cloud technology, where multiple branches of a hospital can share the same computer system for security purposes.</a:t>
            </a:r>
          </a:p>
        </p:txBody>
      </p:sp>
    </p:spTree>
    <p:extLst>
      <p:ext uri="{BB962C8B-B14F-4D97-AF65-F5344CB8AC3E}">
        <p14:creationId xmlns:p14="http://schemas.microsoft.com/office/powerpoint/2010/main" val="28983344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7073</TotalTime>
  <Words>904</Words>
  <Application>Microsoft Office PowerPoint</Application>
  <PresentationFormat>Widescreen</PresentationFormat>
  <Paragraphs>126</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DM Sans Bold</vt:lpstr>
      <vt:lpstr>Rockwell</vt:lpstr>
      <vt:lpstr>Rockwell Condensed</vt:lpstr>
      <vt:lpstr>Signika Bold</vt:lpstr>
      <vt:lpstr>Times New Roman</vt:lpstr>
      <vt:lpstr>Wingdings</vt:lpstr>
      <vt:lpstr>Wood Type</vt:lpstr>
      <vt:lpstr>Online hospital MANAGEMENT SYSTEM  for Healthcare plus hospital. </vt:lpstr>
      <vt:lpstr>PowerPoint Presentation</vt:lpstr>
      <vt:lpstr>PowerPoint Presentation</vt:lpstr>
      <vt:lpstr>PowerPoint Presentation</vt:lpstr>
      <vt:lpstr>Existing System Comparison</vt:lpstr>
      <vt:lpstr>PowerPoint Presentation</vt:lpstr>
      <vt:lpstr>Methodology</vt:lpstr>
      <vt:lpstr>technologies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APPOINTMENT MANAGEMENT SYSTEM IDEAL NURSING HOME, BANDARAWELA</dc:title>
  <dc:creator>Amani Ibham</dc:creator>
  <cp:lastModifiedBy>Dini Edirisinghe</cp:lastModifiedBy>
  <cp:revision>132</cp:revision>
  <dcterms:created xsi:type="dcterms:W3CDTF">2023-06-27T16:26:33Z</dcterms:created>
  <dcterms:modified xsi:type="dcterms:W3CDTF">2026-07-04T13:54:26Z</dcterms:modified>
</cp:coreProperties>
</file>